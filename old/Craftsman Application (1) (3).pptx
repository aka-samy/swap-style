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67" r:id="rId4"/>
    <p:sldId id="268" r:id="rId5"/>
    <p:sldId id="269" r:id="rId6"/>
    <p:sldId id="257" r:id="rId7"/>
    <p:sldId id="270" r:id="rId8"/>
    <p:sldId id="271" r:id="rId9"/>
    <p:sldId id="272" r:id="rId10"/>
    <p:sldId id="274" r:id="rId11"/>
    <p:sldId id="273" r:id="rId12"/>
    <p:sldId id="275" r:id="rId13"/>
    <p:sldId id="276" r:id="rId14"/>
    <p:sldId id="277" r:id="rId15"/>
    <p:sldId id="278" r:id="rId16"/>
    <p:sldId id="279" r:id="rId17"/>
    <p:sldId id="280" r:id="rId18"/>
    <p:sldId id="283" r:id="rId19"/>
    <p:sldId id="284" r:id="rId20"/>
    <p:sldId id="281" r:id="rId21"/>
    <p:sldId id="282" r:id="rId22"/>
    <p:sldId id="285" r:id="rId23"/>
    <p:sldId id="286" r:id="rId24"/>
    <p:sldId id="296" r:id="rId25"/>
    <p:sldId id="293" r:id="rId26"/>
    <p:sldId id="294" r:id="rId27"/>
    <p:sldId id="295" r:id="rId28"/>
    <p:sldId id="287" r:id="rId29"/>
    <p:sldId id="288" r:id="rId30"/>
    <p:sldId id="289" r:id="rId31"/>
    <p:sldId id="290" r:id="rId32"/>
    <p:sldId id="291" r:id="rId33"/>
    <p:sldId id="292" r:id="rId34"/>
    <p:sldId id="265" r:id="rId35"/>
  </p:sldIdLst>
  <p:sldSz cx="18288000" cy="10287000"/>
  <p:notesSz cx="6858000" cy="9144000"/>
  <p:embeddedFontLst>
    <p:embeddedFont>
      <p:font typeface="Montserrat Ultra-Bold" panose="020B0604020202020204" charset="0"/>
      <p:regular r:id="rId36"/>
    </p:embeddedFont>
    <p:embeddedFont>
      <p:font typeface="Poppins Bold" panose="020B0604020202020204" charset="0"/>
      <p:regular r:id="rId37"/>
      <p:bold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28" autoAdjust="0"/>
    <p:restoredTop sz="94622" autoAdjust="0"/>
  </p:normalViewPr>
  <p:slideViewPr>
    <p:cSldViewPr>
      <p:cViewPr varScale="1">
        <p:scale>
          <a:sx n="52" d="100"/>
          <a:sy n="52" d="100"/>
        </p:scale>
        <p:origin x="24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sv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svg"/><Relationship Id="rId4" Type="http://schemas.openxmlformats.org/officeDocument/2006/relationships/image" Target="../media/image4.png"/><Relationship Id="rId9" Type="http://schemas.microsoft.com/office/2007/relationships/hdphoto" Target="../media/hdphoto2.wdp"/></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svg"/><Relationship Id="rId7"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svg"/><Relationship Id="rId4" Type="http://schemas.openxmlformats.org/officeDocument/2006/relationships/image" Target="../media/image1.png"/><Relationship Id="rId9" Type="http://schemas.microsoft.com/office/2007/relationships/hdphoto" Target="../media/hdphoto2.wdp"/></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sv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svg"/><Relationship Id="rId4" Type="http://schemas.openxmlformats.org/officeDocument/2006/relationships/image" Target="../media/image4.png"/><Relationship Id="rId9" Type="http://schemas.microsoft.com/office/2007/relationships/hdphoto" Target="../media/hdphoto2.wdp"/></Relationships>
</file>

<file path=ppt/slides/_rels/slide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236212"/>
            <a:ext cx="18275490"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685800" y="3009900"/>
            <a:ext cx="3992828" cy="3992828"/>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5105400" y="4455786"/>
            <a:ext cx="10668000" cy="1313501"/>
          </a:xfrm>
          <a:prstGeom prst="rect">
            <a:avLst/>
          </a:prstGeom>
        </p:spPr>
        <p:txBody>
          <a:bodyPr wrap="square" lIns="0" tIns="0" rIns="0" bIns="0" rtlCol="0" anchor="t">
            <a:spAutoFit/>
          </a:bodyPr>
          <a:lstStyle/>
          <a:p>
            <a:pPr algn="l">
              <a:lnSpc>
                <a:spcPts val="9990"/>
              </a:lnSpc>
            </a:pPr>
            <a:r>
              <a:rPr lang="en-US" sz="11100" b="1" dirty="0">
                <a:solidFill>
                  <a:srgbClr val="051838"/>
                </a:solidFill>
                <a:latin typeface="Montserrat Ultra-Bold"/>
                <a:ea typeface="Montserrat Ultra-Bold"/>
                <a:cs typeface="Montserrat Ultra-Bold"/>
                <a:sym typeface="Montserrat Ultra-Bold"/>
              </a:rPr>
              <a:t>CRAFTSMAN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3BB0-E543-D140-BA01-B6EBEE4CA8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174D39D-5741-5FAA-0336-59E217D52784}"/>
              </a:ext>
            </a:extLst>
          </p:cNvPr>
          <p:cNvSpPr/>
          <p:nvPr/>
        </p:nvSpPr>
        <p:spPr>
          <a:xfrm>
            <a:off x="-48904" y="8343900"/>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3257039C-1F6E-F1A5-270E-74C9B3A10961}"/>
              </a:ext>
            </a:extLst>
          </p:cNvPr>
          <p:cNvSpPr/>
          <p:nvPr/>
        </p:nvSpPr>
        <p:spPr>
          <a:xfrm>
            <a:off x="-30707" y="662341"/>
            <a:ext cx="3112827" cy="3018720"/>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4"/>
            <a:stretch>
              <a:fillRect/>
            </a:stretch>
          </a:blipFill>
        </p:spPr>
        <p:txBody>
          <a:bodyPr/>
          <a:lstStyle/>
          <a:p>
            <a:endParaRPr lang="en-US"/>
          </a:p>
        </p:txBody>
      </p:sp>
      <p:sp>
        <p:nvSpPr>
          <p:cNvPr id="6" name="TextBox 6">
            <a:extLst>
              <a:ext uri="{FF2B5EF4-FFF2-40B4-BE49-F238E27FC236}">
                <a16:creationId xmlns:a16="http://schemas.microsoft.com/office/drawing/2014/main" id="{F8BE3CBB-7BE9-7130-C235-E9CFE9C92A26}"/>
              </a:ext>
            </a:extLst>
          </p:cNvPr>
          <p:cNvSpPr txBox="1"/>
          <p:nvPr/>
        </p:nvSpPr>
        <p:spPr>
          <a:xfrm>
            <a:off x="3082120" y="1579904"/>
            <a:ext cx="9942394" cy="1282402"/>
          </a:xfrm>
          <a:prstGeom prst="rect">
            <a:avLst/>
          </a:prstGeom>
        </p:spPr>
        <p:txBody>
          <a:bodyPr wrap="square" lIns="0" tIns="0" rIns="0" bIns="0" rtlCol="0" anchor="t">
            <a:spAutoFit/>
          </a:bodyPr>
          <a:lstStyle/>
          <a:p>
            <a:pPr algn="l">
              <a:lnSpc>
                <a:spcPts val="9990"/>
              </a:lnSpc>
            </a:pPr>
            <a:r>
              <a:rPr lang="en-US" sz="9600" b="1" dirty="0">
                <a:solidFill>
                  <a:srgbClr val="051838"/>
                </a:solidFill>
                <a:latin typeface="Montserrat Ultra-Bold"/>
                <a:ea typeface="Montserrat Ultra-Bold"/>
                <a:cs typeface="Montserrat Ultra-Bold"/>
                <a:sym typeface="Montserrat Ultra-Bold"/>
              </a:rPr>
              <a:t>CRAFTSMAN</a:t>
            </a:r>
          </a:p>
        </p:txBody>
      </p:sp>
      <p:sp>
        <p:nvSpPr>
          <p:cNvPr id="5" name="TextBox 4">
            <a:extLst>
              <a:ext uri="{FF2B5EF4-FFF2-40B4-BE49-F238E27FC236}">
                <a16:creationId xmlns:a16="http://schemas.microsoft.com/office/drawing/2014/main" id="{9E87FFAF-FB4B-F3E5-28C4-321A8D3AFDBC}"/>
              </a:ext>
            </a:extLst>
          </p:cNvPr>
          <p:cNvSpPr txBox="1"/>
          <p:nvPr/>
        </p:nvSpPr>
        <p:spPr>
          <a:xfrm>
            <a:off x="3505200" y="3238500"/>
            <a:ext cx="9942394" cy="1938992"/>
          </a:xfrm>
          <a:prstGeom prst="rect">
            <a:avLst/>
          </a:prstGeom>
          <a:noFill/>
        </p:spPr>
        <p:txBody>
          <a:bodyPr wrap="square">
            <a:spAutoFit/>
          </a:bodyPr>
          <a:lstStyle/>
          <a:p>
            <a:r>
              <a:rPr lang="en-US" sz="4000" dirty="0"/>
              <a:t>Developed By: Omar Sayed</a:t>
            </a:r>
          </a:p>
          <a:p>
            <a:r>
              <a:rPr lang="en-US" sz="4000" dirty="0"/>
              <a:t>		        Ahmed Ehab</a:t>
            </a:r>
            <a:br>
              <a:rPr lang="en-US" sz="4000" dirty="0"/>
            </a:br>
            <a:r>
              <a:rPr lang="en-US" sz="4000" dirty="0"/>
              <a:t>		       Mohamed Ashraf</a:t>
            </a:r>
          </a:p>
        </p:txBody>
      </p:sp>
      <p:sp>
        <p:nvSpPr>
          <p:cNvPr id="10" name="TextBox 9">
            <a:extLst>
              <a:ext uri="{FF2B5EF4-FFF2-40B4-BE49-F238E27FC236}">
                <a16:creationId xmlns:a16="http://schemas.microsoft.com/office/drawing/2014/main" id="{2C2317C3-5190-2E04-2F2F-A57372AE199C}"/>
              </a:ext>
            </a:extLst>
          </p:cNvPr>
          <p:cNvSpPr txBox="1"/>
          <p:nvPr/>
        </p:nvSpPr>
        <p:spPr>
          <a:xfrm>
            <a:off x="2209800" y="6378482"/>
            <a:ext cx="9942394" cy="707886"/>
          </a:xfrm>
          <a:prstGeom prst="rect">
            <a:avLst/>
          </a:prstGeom>
          <a:noFill/>
        </p:spPr>
        <p:txBody>
          <a:bodyPr wrap="square">
            <a:spAutoFit/>
          </a:bodyPr>
          <a:lstStyle/>
          <a:p>
            <a:r>
              <a:rPr lang="en-US" sz="4000" dirty="0"/>
              <a:t>Supervisor by:  Dr: Antony </a:t>
            </a:r>
            <a:r>
              <a:rPr lang="en-US" sz="4000" dirty="0" err="1"/>
              <a:t>Nosshi</a:t>
            </a:r>
            <a:endParaRPr lang="en-US" sz="4000" dirty="0"/>
          </a:p>
        </p:txBody>
      </p:sp>
      <p:sp>
        <p:nvSpPr>
          <p:cNvPr id="11" name="Freeform 4">
            <a:extLst>
              <a:ext uri="{FF2B5EF4-FFF2-40B4-BE49-F238E27FC236}">
                <a16:creationId xmlns:a16="http://schemas.microsoft.com/office/drawing/2014/main" id="{06821BF4-DFF3-76CD-3A9F-B913B1C90560}"/>
              </a:ext>
            </a:extLst>
          </p:cNvPr>
          <p:cNvSpPr/>
          <p:nvPr/>
        </p:nvSpPr>
        <p:spPr>
          <a:xfrm flipH="1" flipV="1">
            <a:off x="-46920" y="-4055809"/>
            <a:ext cx="18288000" cy="3683278"/>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3461541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4DA0A-173D-9885-E0EC-F9E4BCA25F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752A1D6-87CF-6C5D-AB1D-384AA5152706}"/>
              </a:ext>
            </a:extLst>
          </p:cNvPr>
          <p:cNvSpPr txBox="1"/>
          <p:nvPr/>
        </p:nvSpPr>
        <p:spPr>
          <a:xfrm>
            <a:off x="3390279" y="2994982"/>
            <a:ext cx="10860380" cy="5078313"/>
          </a:xfrm>
          <a:prstGeom prst="rect">
            <a:avLst/>
          </a:prstGeom>
          <a:noFill/>
        </p:spPr>
        <p:txBody>
          <a:bodyPr wrap="square">
            <a:spAutoFit/>
          </a:bodyPr>
          <a:lstStyle/>
          <a:p>
            <a:r>
              <a:rPr lang="en-US" sz="5400" b="1" dirty="0"/>
              <a:t>1- Introduction</a:t>
            </a:r>
          </a:p>
          <a:p>
            <a:r>
              <a:rPr lang="en-US" sz="5400" b="1" dirty="0"/>
              <a:t>2- the purpose</a:t>
            </a:r>
          </a:p>
          <a:p>
            <a:r>
              <a:rPr lang="en-US" sz="5400" b="1" dirty="0"/>
              <a:t>3-  System analysis 	</a:t>
            </a:r>
          </a:p>
          <a:p>
            <a:r>
              <a:rPr lang="en-US" sz="5400" b="1" dirty="0"/>
              <a:t>4- The tools</a:t>
            </a:r>
          </a:p>
          <a:p>
            <a:r>
              <a:rPr lang="en-US" sz="5400" b="1" dirty="0"/>
              <a:t>5- the current Strategy &amp; Future plan </a:t>
            </a:r>
          </a:p>
          <a:p>
            <a:r>
              <a:rPr lang="en-US" sz="5400" b="1" dirty="0"/>
              <a:t>6- Conclusion </a:t>
            </a:r>
          </a:p>
        </p:txBody>
      </p:sp>
      <p:sp>
        <p:nvSpPr>
          <p:cNvPr id="3" name="Freeform 4">
            <a:extLst>
              <a:ext uri="{FF2B5EF4-FFF2-40B4-BE49-F238E27FC236}">
                <a16:creationId xmlns:a16="http://schemas.microsoft.com/office/drawing/2014/main" id="{3E55216F-81E4-F679-5DDD-459B07A4BA46}"/>
              </a:ext>
            </a:extLst>
          </p:cNvPr>
          <p:cNvSpPr/>
          <p:nvPr/>
        </p:nvSpPr>
        <p:spPr>
          <a:xfrm flipH="1" flipV="1">
            <a:off x="0" y="-15354"/>
            <a:ext cx="18288000" cy="3683278"/>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068A0F06-C2B8-763B-EE7E-E754508BDA96}"/>
              </a:ext>
            </a:extLst>
          </p:cNvPr>
          <p:cNvSpPr txBox="1"/>
          <p:nvPr/>
        </p:nvSpPr>
        <p:spPr>
          <a:xfrm>
            <a:off x="3488140" y="2213705"/>
            <a:ext cx="9184942" cy="784830"/>
          </a:xfrm>
          <a:prstGeom prst="rect">
            <a:avLst/>
          </a:prstGeom>
          <a:noFill/>
          <a:ln>
            <a:solidFill>
              <a:schemeClr val="bg2"/>
            </a:solidFill>
          </a:ln>
        </p:spPr>
        <p:txBody>
          <a:bodyPr wrap="square">
            <a:spAutoFit/>
          </a:bodyPr>
          <a:lstStyle/>
          <a:p>
            <a:r>
              <a:rPr lang="en-US" sz="4500" b="1" dirty="0">
                <a:solidFill>
                  <a:schemeClr val="tx2"/>
                </a:solidFill>
                <a:latin typeface="Poppins Bold"/>
                <a:ea typeface="Poppins Bold"/>
                <a:cs typeface="Poppins Bold"/>
                <a:sym typeface="Poppins Bold"/>
              </a:rPr>
              <a:t>Agenda</a:t>
            </a:r>
            <a:endParaRPr lang="en-US" sz="4500" dirty="0">
              <a:solidFill>
                <a:schemeClr val="tx2"/>
              </a:solidFill>
            </a:endParaRPr>
          </a:p>
        </p:txBody>
      </p:sp>
      <p:sp>
        <p:nvSpPr>
          <p:cNvPr id="11" name="Freeform 3">
            <a:extLst>
              <a:ext uri="{FF2B5EF4-FFF2-40B4-BE49-F238E27FC236}">
                <a16:creationId xmlns:a16="http://schemas.microsoft.com/office/drawing/2014/main" id="{7B4CFFF7-2D8B-E130-414D-0518D7497B1F}"/>
              </a:ext>
            </a:extLst>
          </p:cNvPr>
          <p:cNvSpPr/>
          <p:nvPr/>
        </p:nvSpPr>
        <p:spPr>
          <a:xfrm>
            <a:off x="14250661" y="3667924"/>
            <a:ext cx="4037339" cy="7162800"/>
          </a:xfrm>
          <a:custGeom>
            <a:avLst/>
            <a:gdLst/>
            <a:ahLst/>
            <a:cxnLst/>
            <a:rect l="l" t="t" r="r" b="b"/>
            <a:pathLst>
              <a:path w="3257941" h="6356958">
                <a:moveTo>
                  <a:pt x="0" y="0"/>
                </a:moveTo>
                <a:lnTo>
                  <a:pt x="3257941" y="0"/>
                </a:lnTo>
                <a:lnTo>
                  <a:pt x="3257941" y="6356958"/>
                </a:lnTo>
                <a:lnTo>
                  <a:pt x="0" y="6356958"/>
                </a:lnTo>
                <a:lnTo>
                  <a:pt x="0" y="0"/>
                </a:lnTo>
                <a:close/>
              </a:path>
            </a:pathLst>
          </a:custGeom>
          <a:blipFill>
            <a:blip r:embed="rId4"/>
            <a:stretch>
              <a:fillRect/>
            </a:stretch>
          </a:blipFill>
        </p:spPr>
        <p:txBody>
          <a:bodyPr/>
          <a:lstStyle/>
          <a:p>
            <a:endParaRPr lang="en-US"/>
          </a:p>
        </p:txBody>
      </p:sp>
      <p:sp>
        <p:nvSpPr>
          <p:cNvPr id="13" name="Freeform 2">
            <a:extLst>
              <a:ext uri="{FF2B5EF4-FFF2-40B4-BE49-F238E27FC236}">
                <a16:creationId xmlns:a16="http://schemas.microsoft.com/office/drawing/2014/main" id="{3C4D7114-CE35-F8FC-9307-11FE88BA26EC}"/>
              </a:ext>
            </a:extLst>
          </p:cNvPr>
          <p:cNvSpPr/>
          <p:nvPr/>
        </p:nvSpPr>
        <p:spPr>
          <a:xfrm>
            <a:off x="18782681" y="8634442"/>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4">
            <a:extLst>
              <a:ext uri="{FF2B5EF4-FFF2-40B4-BE49-F238E27FC236}">
                <a16:creationId xmlns:a16="http://schemas.microsoft.com/office/drawing/2014/main" id="{39BB15A6-3696-169F-3AA2-5117AC4312CB}"/>
              </a:ext>
            </a:extLst>
          </p:cNvPr>
          <p:cNvSpPr/>
          <p:nvPr/>
        </p:nvSpPr>
        <p:spPr>
          <a:xfrm>
            <a:off x="14712916" y="5615722"/>
            <a:ext cx="3112827" cy="3018720"/>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1328653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FCD4-5957-D15B-9A94-B2C20A26BE9A}"/>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3A8D9A1A-6268-68A8-BEAE-B4E67A25EB0C}"/>
              </a:ext>
            </a:extLst>
          </p:cNvPr>
          <p:cNvSpPr/>
          <p:nvPr/>
        </p:nvSpPr>
        <p:spPr>
          <a:xfrm>
            <a:off x="14401800" y="3634140"/>
            <a:ext cx="3112827" cy="3018720"/>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2"/>
            <a:stretch>
              <a:fillRect/>
            </a:stretch>
          </a:blipFill>
        </p:spPr>
        <p:txBody>
          <a:bodyPr/>
          <a:lstStyle/>
          <a:p>
            <a:endParaRPr lang="en-US"/>
          </a:p>
        </p:txBody>
      </p:sp>
      <p:sp>
        <p:nvSpPr>
          <p:cNvPr id="5" name="TextBox 4">
            <a:extLst>
              <a:ext uri="{FF2B5EF4-FFF2-40B4-BE49-F238E27FC236}">
                <a16:creationId xmlns:a16="http://schemas.microsoft.com/office/drawing/2014/main" id="{D0055517-9209-C9B0-6C0E-3970AC8A5D94}"/>
              </a:ext>
            </a:extLst>
          </p:cNvPr>
          <p:cNvSpPr txBox="1"/>
          <p:nvPr/>
        </p:nvSpPr>
        <p:spPr>
          <a:xfrm>
            <a:off x="904732" y="2405543"/>
            <a:ext cx="12430268" cy="6247864"/>
          </a:xfrm>
          <a:prstGeom prst="rect">
            <a:avLst/>
          </a:prstGeom>
          <a:noFill/>
        </p:spPr>
        <p:txBody>
          <a:bodyPr wrap="square">
            <a:spAutoFit/>
          </a:bodyPr>
          <a:lstStyle/>
          <a:p>
            <a:r>
              <a:rPr lang="en-US" sz="4000" dirty="0"/>
              <a:t>Our application brings a proven concept to the Egyptian market connecting users with craftsmen for home services. While popular in countries like Saudi Arabia, the UAE, and the USA (e.g., Yelp), this idea is still emerging locally. Users can post job requests with their preferred price and date, and craftsmen can respond, negotiate, and schedule the job. Payments are handled securely through the app, and both parties can rate each other to ensure trust and reliability.</a:t>
            </a:r>
          </a:p>
          <a:p>
            <a:endParaRPr lang="en-US" sz="4000" dirty="0"/>
          </a:p>
        </p:txBody>
      </p:sp>
      <p:sp>
        <p:nvSpPr>
          <p:cNvPr id="3" name="Freeform 4">
            <a:extLst>
              <a:ext uri="{FF2B5EF4-FFF2-40B4-BE49-F238E27FC236}">
                <a16:creationId xmlns:a16="http://schemas.microsoft.com/office/drawing/2014/main" id="{47BDB0C5-82A8-4A85-858F-16674CD54B70}"/>
              </a:ext>
            </a:extLst>
          </p:cNvPr>
          <p:cNvSpPr/>
          <p:nvPr/>
        </p:nvSpPr>
        <p:spPr>
          <a:xfrm flipH="1" flipV="1">
            <a:off x="0" y="-1181100"/>
            <a:ext cx="18288000" cy="3683278"/>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49046054-DD9E-7485-C829-75BB1DF5AECF}"/>
              </a:ext>
            </a:extLst>
          </p:cNvPr>
          <p:cNvSpPr txBox="1"/>
          <p:nvPr/>
        </p:nvSpPr>
        <p:spPr>
          <a:xfrm>
            <a:off x="1981200" y="1183721"/>
            <a:ext cx="7789460" cy="754053"/>
          </a:xfrm>
          <a:prstGeom prst="rect">
            <a:avLst/>
          </a:prstGeom>
          <a:noFill/>
          <a:ln>
            <a:solidFill>
              <a:schemeClr val="bg2"/>
            </a:solidFill>
          </a:ln>
        </p:spPr>
        <p:txBody>
          <a:bodyPr wrap="square">
            <a:spAutoFit/>
          </a:bodyPr>
          <a:lstStyle/>
          <a:p>
            <a:r>
              <a:rPr lang="en-US" sz="4300" b="1" dirty="0"/>
              <a:t>Introduction</a:t>
            </a:r>
            <a:endParaRPr lang="en-US" sz="4300" b="1" dirty="0">
              <a:solidFill>
                <a:schemeClr val="tx2"/>
              </a:solidFill>
            </a:endParaRPr>
          </a:p>
        </p:txBody>
      </p:sp>
      <p:sp>
        <p:nvSpPr>
          <p:cNvPr id="2" name="Freeform 3">
            <a:extLst>
              <a:ext uri="{FF2B5EF4-FFF2-40B4-BE49-F238E27FC236}">
                <a16:creationId xmlns:a16="http://schemas.microsoft.com/office/drawing/2014/main" id="{838FEFDA-19DB-2FC6-E6B2-FF0047544291}"/>
              </a:ext>
            </a:extLst>
          </p:cNvPr>
          <p:cNvSpPr/>
          <p:nvPr/>
        </p:nvSpPr>
        <p:spPr>
          <a:xfrm>
            <a:off x="14277158" y="2296449"/>
            <a:ext cx="3257941" cy="6356958"/>
          </a:xfrm>
          <a:custGeom>
            <a:avLst/>
            <a:gdLst/>
            <a:ahLst/>
            <a:cxnLst/>
            <a:rect l="l" t="t" r="r" b="b"/>
            <a:pathLst>
              <a:path w="3257941" h="6356958">
                <a:moveTo>
                  <a:pt x="0" y="0"/>
                </a:moveTo>
                <a:lnTo>
                  <a:pt x="3257941" y="0"/>
                </a:lnTo>
                <a:lnTo>
                  <a:pt x="3257941" y="6356958"/>
                </a:lnTo>
                <a:lnTo>
                  <a:pt x="0" y="6356958"/>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596434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5F2BE-0CB9-4F4D-2892-37C9CE195470}"/>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B42CDA25-CFA2-81DD-25B9-90DA47A70D40}"/>
              </a:ext>
            </a:extLst>
          </p:cNvPr>
          <p:cNvSpPr/>
          <p:nvPr/>
        </p:nvSpPr>
        <p:spPr>
          <a:xfrm>
            <a:off x="14630400" y="4076700"/>
            <a:ext cx="3112827" cy="3018720"/>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2"/>
            <a:stretch>
              <a:fillRect/>
            </a:stretch>
          </a:blipFill>
        </p:spPr>
        <p:txBody>
          <a:bodyPr/>
          <a:lstStyle/>
          <a:p>
            <a:endParaRPr lang="en-US" dirty="0"/>
          </a:p>
        </p:txBody>
      </p:sp>
      <p:sp>
        <p:nvSpPr>
          <p:cNvPr id="5" name="TextBox 4">
            <a:extLst>
              <a:ext uri="{FF2B5EF4-FFF2-40B4-BE49-F238E27FC236}">
                <a16:creationId xmlns:a16="http://schemas.microsoft.com/office/drawing/2014/main" id="{C699E8C0-AF69-9788-E10B-6FBC84AB0939}"/>
              </a:ext>
            </a:extLst>
          </p:cNvPr>
          <p:cNvSpPr txBox="1"/>
          <p:nvPr/>
        </p:nvSpPr>
        <p:spPr>
          <a:xfrm>
            <a:off x="904732" y="2405543"/>
            <a:ext cx="12430268" cy="7478970"/>
          </a:xfrm>
          <a:prstGeom prst="rect">
            <a:avLst/>
          </a:prstGeom>
          <a:noFill/>
        </p:spPr>
        <p:txBody>
          <a:bodyPr wrap="square">
            <a:spAutoFit/>
          </a:bodyPr>
          <a:lstStyle/>
          <a:p>
            <a:r>
              <a:rPr lang="en-US" sz="4000" kern="100" dirty="0">
                <a:effectLst/>
                <a:latin typeface="Aptos" panose="020B0004020202020204" pitchFamily="34" charset="0"/>
                <a:ea typeface="Aptos" panose="020B0004020202020204" pitchFamily="34" charset="0"/>
                <a:cs typeface="Arial" panose="020B0604020202020204" pitchFamily="34" charset="0"/>
              </a:rPr>
              <a:t>In Egypt, finding a reliable craftsman for home repairs can be challenging. Many craftsmen are not punctual, and some increase the agreed-upon price after starting the work. Additionally, there is a lack of transparency in the hiring process, making it difficult for users to find trustworthy professionals. This results in frustration, wasted time, and unexpected costs for homeowners. Our platform aims to address these issues by providing a structured system where users can request services at their preferred price and schedule, ensuring fair negotiations and secure transactions.</a:t>
            </a:r>
          </a:p>
          <a:p>
            <a:endParaRPr lang="en-US" sz="4000" dirty="0"/>
          </a:p>
        </p:txBody>
      </p:sp>
      <p:sp>
        <p:nvSpPr>
          <p:cNvPr id="3" name="Freeform 4">
            <a:extLst>
              <a:ext uri="{FF2B5EF4-FFF2-40B4-BE49-F238E27FC236}">
                <a16:creationId xmlns:a16="http://schemas.microsoft.com/office/drawing/2014/main" id="{CEE1B9A5-9BD5-E111-0CA8-35E210441C98}"/>
              </a:ext>
            </a:extLst>
          </p:cNvPr>
          <p:cNvSpPr/>
          <p:nvPr/>
        </p:nvSpPr>
        <p:spPr>
          <a:xfrm flipH="1" flipV="1">
            <a:off x="0" y="-952500"/>
            <a:ext cx="18288000" cy="3200400"/>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9" name="TextBox 8">
            <a:extLst>
              <a:ext uri="{FF2B5EF4-FFF2-40B4-BE49-F238E27FC236}">
                <a16:creationId xmlns:a16="http://schemas.microsoft.com/office/drawing/2014/main" id="{BCDD908B-F9F9-A046-FF2A-66C4AFC2E060}"/>
              </a:ext>
            </a:extLst>
          </p:cNvPr>
          <p:cNvSpPr txBox="1"/>
          <p:nvPr/>
        </p:nvSpPr>
        <p:spPr>
          <a:xfrm>
            <a:off x="1981200" y="1183721"/>
            <a:ext cx="7789460" cy="754053"/>
          </a:xfrm>
          <a:prstGeom prst="rect">
            <a:avLst/>
          </a:prstGeom>
          <a:noFill/>
          <a:ln>
            <a:solidFill>
              <a:schemeClr val="bg2"/>
            </a:solidFill>
          </a:ln>
        </p:spPr>
        <p:txBody>
          <a:bodyPr wrap="square">
            <a:spAutoFit/>
          </a:bodyPr>
          <a:lstStyle/>
          <a:p>
            <a:r>
              <a:rPr lang="en-US" sz="4300" b="1" dirty="0"/>
              <a:t>Problem Statement</a:t>
            </a:r>
            <a:endParaRPr lang="en-US" sz="4300" b="1" dirty="0">
              <a:solidFill>
                <a:schemeClr val="tx2"/>
              </a:solidFill>
            </a:endParaRPr>
          </a:p>
        </p:txBody>
      </p:sp>
      <p:sp>
        <p:nvSpPr>
          <p:cNvPr id="10" name="Freeform 3">
            <a:extLst>
              <a:ext uri="{FF2B5EF4-FFF2-40B4-BE49-F238E27FC236}">
                <a16:creationId xmlns:a16="http://schemas.microsoft.com/office/drawing/2014/main" id="{D995AE7D-01ED-E68A-1318-4C5E02703729}"/>
              </a:ext>
            </a:extLst>
          </p:cNvPr>
          <p:cNvSpPr/>
          <p:nvPr/>
        </p:nvSpPr>
        <p:spPr>
          <a:xfrm>
            <a:off x="14557842" y="2367942"/>
            <a:ext cx="3257941" cy="6356958"/>
          </a:xfrm>
          <a:custGeom>
            <a:avLst/>
            <a:gdLst/>
            <a:ahLst/>
            <a:cxnLst/>
            <a:rect l="l" t="t" r="r" b="b"/>
            <a:pathLst>
              <a:path w="3257941" h="6356958">
                <a:moveTo>
                  <a:pt x="0" y="0"/>
                </a:moveTo>
                <a:lnTo>
                  <a:pt x="3257941" y="0"/>
                </a:lnTo>
                <a:lnTo>
                  <a:pt x="3257941" y="6356958"/>
                </a:lnTo>
                <a:lnTo>
                  <a:pt x="0" y="6356958"/>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908852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flipV="1">
            <a:off x="-533400" y="-419101"/>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028700" y="1485900"/>
            <a:ext cx="10629900" cy="1282402"/>
          </a:xfrm>
          <a:prstGeom prst="rect">
            <a:avLst/>
          </a:prstGeom>
        </p:spPr>
        <p:txBody>
          <a:bodyPr wrap="square" lIns="0" tIns="0" rIns="0" bIns="0" rtlCol="0" anchor="t">
            <a:spAutoFit/>
          </a:bodyPr>
          <a:lstStyle/>
          <a:p>
            <a:pPr algn="l">
              <a:lnSpc>
                <a:spcPts val="9999"/>
              </a:lnSpc>
            </a:pPr>
            <a:r>
              <a:rPr lang="en-US" sz="9600" b="1" dirty="0"/>
              <a:t>Project Objective</a:t>
            </a:r>
            <a:endParaRPr lang="en-US" sz="9999" b="1" dirty="0">
              <a:solidFill>
                <a:srgbClr val="051838"/>
              </a:solidFill>
              <a:latin typeface="Montserrat Ultra-Bold"/>
              <a:ea typeface="Montserrat Ultra-Bold"/>
              <a:cs typeface="Montserrat Ultra-Bold"/>
              <a:sym typeface="Montserrat Ultra-Bold"/>
            </a:endParaRPr>
          </a:p>
        </p:txBody>
      </p:sp>
      <p:sp>
        <p:nvSpPr>
          <p:cNvPr id="6" name="TextBox 6"/>
          <p:cNvSpPr txBox="1"/>
          <p:nvPr/>
        </p:nvSpPr>
        <p:spPr>
          <a:xfrm>
            <a:off x="1028700" y="2920730"/>
            <a:ext cx="11696700" cy="5433282"/>
          </a:xfrm>
          <a:prstGeom prst="rect">
            <a:avLst/>
          </a:prstGeom>
        </p:spPr>
        <p:txBody>
          <a:bodyPr wrap="square" lIns="0" tIns="0" rIns="0" bIns="0" rtlCol="0" anchor="t">
            <a:spAutoFit/>
          </a:bodyPr>
          <a:lstStyle/>
          <a:p>
            <a:pPr marL="342900" marR="0" lvl="0" indent="-342900" rtl="0">
              <a:lnSpc>
                <a:spcPct val="115000"/>
              </a:lnSpc>
              <a:spcAft>
                <a:spcPts val="800"/>
              </a:spcAft>
              <a:buNone/>
              <a:tabLst>
                <a:tab pos="457200" algn="l"/>
              </a:tabLst>
            </a:pPr>
            <a:r>
              <a:rPr lang="en-US" sz="3200" kern="100" dirty="0">
                <a:effectLst/>
                <a:latin typeface="Aptos" panose="020B0004020202020204" pitchFamily="34" charset="0"/>
                <a:ea typeface="Aptos" panose="020B0004020202020204" pitchFamily="34" charset="0"/>
                <a:cs typeface="Arial" panose="020B0604020202020204" pitchFamily="34" charset="0"/>
              </a:rPr>
              <a:t>1-To create a user-friendly platform that connects homeowners with skilled craftsmen.</a:t>
            </a:r>
          </a:p>
          <a:p>
            <a:pPr marL="342900" marR="0" lvl="0" indent="-342900">
              <a:lnSpc>
                <a:spcPct val="115000"/>
              </a:lnSpc>
              <a:spcAft>
                <a:spcPts val="800"/>
              </a:spcAft>
              <a:buNone/>
              <a:tabLst>
                <a:tab pos="457200" algn="l"/>
              </a:tabLst>
            </a:pPr>
            <a:r>
              <a:rPr lang="en-US" sz="3200" kern="100" dirty="0">
                <a:effectLst/>
                <a:latin typeface="Aptos" panose="020B0004020202020204" pitchFamily="34" charset="0"/>
                <a:ea typeface="Aptos" panose="020B0004020202020204" pitchFamily="34" charset="0"/>
                <a:cs typeface="Arial" panose="020B0604020202020204" pitchFamily="34" charset="0"/>
              </a:rPr>
              <a:t>2-To ensure transparency by allowing users to set their own price and negotiate with craftsmen.</a:t>
            </a:r>
          </a:p>
          <a:p>
            <a:pPr marL="342900" marR="0" lvl="0" indent="-342900">
              <a:lnSpc>
                <a:spcPct val="115000"/>
              </a:lnSpc>
              <a:spcAft>
                <a:spcPts val="800"/>
              </a:spcAft>
              <a:buNone/>
              <a:tabLst>
                <a:tab pos="457200" algn="l"/>
              </a:tabLst>
            </a:pPr>
            <a:r>
              <a:rPr lang="en-US" sz="3200" kern="100" dirty="0">
                <a:effectLst/>
                <a:latin typeface="Aptos" panose="020B0004020202020204" pitchFamily="34" charset="0"/>
                <a:ea typeface="Aptos" panose="020B0004020202020204" pitchFamily="34" charset="0"/>
                <a:cs typeface="Arial" panose="020B0604020202020204" pitchFamily="34" charset="0"/>
              </a:rPr>
              <a:t>3- To improve reliability by implementing a rating system for both users and craftsmen.</a:t>
            </a:r>
          </a:p>
          <a:p>
            <a:pPr marL="0" marR="0" lvl="0" indent="0">
              <a:lnSpc>
                <a:spcPct val="115000"/>
              </a:lnSpc>
              <a:spcAft>
                <a:spcPts val="800"/>
              </a:spcAft>
              <a:buNone/>
              <a:tabLst>
                <a:tab pos="457200" algn="l"/>
              </a:tabLst>
            </a:pPr>
            <a:r>
              <a:rPr lang="en-US" sz="3200" kern="100" dirty="0">
                <a:effectLst/>
                <a:latin typeface="Aptos" panose="020B0004020202020204" pitchFamily="34" charset="0"/>
                <a:ea typeface="Aptos" panose="020B0004020202020204" pitchFamily="34" charset="0"/>
                <a:cs typeface="Arial" panose="020B0604020202020204" pitchFamily="34" charset="0"/>
              </a:rPr>
              <a:t>4- To enhance convenience by enabling users to schedule repairs at their preferred time.</a:t>
            </a:r>
          </a:p>
          <a:p>
            <a:endParaRPr lang="en-US" sz="3200" dirty="0"/>
          </a:p>
        </p:txBody>
      </p:sp>
      <p:sp>
        <p:nvSpPr>
          <p:cNvPr id="8" name="Freeform 3">
            <a:extLst>
              <a:ext uri="{FF2B5EF4-FFF2-40B4-BE49-F238E27FC236}">
                <a16:creationId xmlns:a16="http://schemas.microsoft.com/office/drawing/2014/main" id="{002A3617-325D-EA45-6957-14D94E97C682}"/>
              </a:ext>
            </a:extLst>
          </p:cNvPr>
          <p:cNvSpPr/>
          <p:nvPr/>
        </p:nvSpPr>
        <p:spPr>
          <a:xfrm>
            <a:off x="14554200" y="2952006"/>
            <a:ext cx="3257941" cy="6356958"/>
          </a:xfrm>
          <a:custGeom>
            <a:avLst/>
            <a:gdLst/>
            <a:ahLst/>
            <a:cxnLst/>
            <a:rect l="l" t="t" r="r" b="b"/>
            <a:pathLst>
              <a:path w="3257941" h="6356958">
                <a:moveTo>
                  <a:pt x="0" y="0"/>
                </a:moveTo>
                <a:lnTo>
                  <a:pt x="3257941" y="0"/>
                </a:lnTo>
                <a:lnTo>
                  <a:pt x="3257941" y="6356958"/>
                </a:lnTo>
                <a:lnTo>
                  <a:pt x="0" y="6356958"/>
                </a:lnTo>
                <a:lnTo>
                  <a:pt x="0" y="0"/>
                </a:lnTo>
                <a:close/>
              </a:path>
            </a:pathLst>
          </a:custGeom>
          <a:blipFill>
            <a:blip r:embed="rId4"/>
            <a:stretch>
              <a:fillRect/>
            </a:stretch>
          </a:blipFill>
        </p:spPr>
        <p:txBody>
          <a:bodyPr/>
          <a:lstStyle/>
          <a:p>
            <a:endParaRPr lang="en-US"/>
          </a:p>
        </p:txBody>
      </p:sp>
      <p:sp>
        <p:nvSpPr>
          <p:cNvPr id="9" name="Freeform 4">
            <a:extLst>
              <a:ext uri="{FF2B5EF4-FFF2-40B4-BE49-F238E27FC236}">
                <a16:creationId xmlns:a16="http://schemas.microsoft.com/office/drawing/2014/main" id="{0F004B29-C0B7-42D9-BB48-C1C5F7FEE614}"/>
              </a:ext>
            </a:extLst>
          </p:cNvPr>
          <p:cNvSpPr/>
          <p:nvPr/>
        </p:nvSpPr>
        <p:spPr>
          <a:xfrm>
            <a:off x="14699314" y="4381500"/>
            <a:ext cx="3112827" cy="3018720"/>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5"/>
            <a:stretch>
              <a:fillRect/>
            </a:stretch>
          </a:blipFill>
        </p:spPr>
        <p:txBody>
          <a:bodyPr/>
          <a:lstStyle/>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AFF8-EAA2-0DB3-B42B-C0C3FB2107E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A48378D9-6F90-DDA3-8971-D2345F32AF5A}"/>
              </a:ext>
            </a:extLst>
          </p:cNvPr>
          <p:cNvSpPr/>
          <p:nvPr/>
        </p:nvSpPr>
        <p:spPr>
          <a:xfrm flipH="1" flipV="1">
            <a:off x="-266700" y="-419100"/>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C67245EE-1D94-3D27-0FE4-1409CBB33BDA}"/>
              </a:ext>
            </a:extLst>
          </p:cNvPr>
          <p:cNvSpPr txBox="1"/>
          <p:nvPr/>
        </p:nvSpPr>
        <p:spPr>
          <a:xfrm>
            <a:off x="1028700" y="1485900"/>
            <a:ext cx="10629900" cy="1282402"/>
          </a:xfrm>
          <a:prstGeom prst="rect">
            <a:avLst/>
          </a:prstGeom>
        </p:spPr>
        <p:txBody>
          <a:bodyPr wrap="square" lIns="0" tIns="0" rIns="0" bIns="0" rtlCol="0" anchor="t">
            <a:spAutoFit/>
          </a:bodyPr>
          <a:lstStyle/>
          <a:p>
            <a:pPr algn="l">
              <a:lnSpc>
                <a:spcPts val="9999"/>
              </a:lnSpc>
            </a:pPr>
            <a:r>
              <a:rPr lang="en-US" sz="9600" b="1" dirty="0"/>
              <a:t>Scope</a:t>
            </a:r>
            <a:endParaRPr lang="en-US" sz="9999"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390FE993-E732-3DF1-4E93-554C858BA93E}"/>
              </a:ext>
            </a:extLst>
          </p:cNvPr>
          <p:cNvSpPr txBox="1"/>
          <p:nvPr/>
        </p:nvSpPr>
        <p:spPr>
          <a:xfrm>
            <a:off x="1028700" y="2920730"/>
            <a:ext cx="12687300" cy="6771084"/>
          </a:xfrm>
          <a:prstGeom prst="rect">
            <a:avLst/>
          </a:prstGeom>
        </p:spPr>
        <p:txBody>
          <a:bodyPr wrap="square" lIns="0" tIns="0" rIns="0" bIns="0" rtlCol="0" anchor="t">
            <a:spAutoFit/>
          </a:bodyPr>
          <a:lstStyle/>
          <a:p>
            <a:r>
              <a:rPr lang="en-US" sz="4400" dirty="0"/>
              <a:t>The application serves as a digital marketplace for home repair services, enabling users to post job requests with their preferred price and schedule. Craftsmen can browse these requests, negotiate terms, and accept jobs. The platform facilitates communication and agreement between both parties and includes a rating and review system to ensure reliability and build trust. The service will initially launch in major Egyptian cities, with future expansion planned based on market demand.</a:t>
            </a:r>
          </a:p>
        </p:txBody>
      </p:sp>
      <p:sp>
        <p:nvSpPr>
          <p:cNvPr id="8" name="Freeform 3">
            <a:extLst>
              <a:ext uri="{FF2B5EF4-FFF2-40B4-BE49-F238E27FC236}">
                <a16:creationId xmlns:a16="http://schemas.microsoft.com/office/drawing/2014/main" id="{B064D279-E793-DBD0-AB4A-3C48274B5667}"/>
              </a:ext>
            </a:extLst>
          </p:cNvPr>
          <p:cNvSpPr/>
          <p:nvPr/>
        </p:nvSpPr>
        <p:spPr>
          <a:xfrm>
            <a:off x="14554200" y="2952006"/>
            <a:ext cx="3257941" cy="6356958"/>
          </a:xfrm>
          <a:custGeom>
            <a:avLst/>
            <a:gdLst/>
            <a:ahLst/>
            <a:cxnLst/>
            <a:rect l="l" t="t" r="r" b="b"/>
            <a:pathLst>
              <a:path w="3257941" h="6356958">
                <a:moveTo>
                  <a:pt x="0" y="0"/>
                </a:moveTo>
                <a:lnTo>
                  <a:pt x="3257941" y="0"/>
                </a:lnTo>
                <a:lnTo>
                  <a:pt x="3257941" y="6356958"/>
                </a:lnTo>
                <a:lnTo>
                  <a:pt x="0" y="6356958"/>
                </a:lnTo>
                <a:lnTo>
                  <a:pt x="0" y="0"/>
                </a:lnTo>
                <a:close/>
              </a:path>
            </a:pathLst>
          </a:custGeom>
          <a:blipFill>
            <a:blip r:embed="rId4"/>
            <a:stretch>
              <a:fillRect/>
            </a:stretch>
          </a:blipFill>
        </p:spPr>
        <p:txBody>
          <a:bodyPr/>
          <a:lstStyle/>
          <a:p>
            <a:endParaRPr lang="en-US"/>
          </a:p>
        </p:txBody>
      </p:sp>
      <p:sp>
        <p:nvSpPr>
          <p:cNvPr id="9" name="Freeform 4">
            <a:extLst>
              <a:ext uri="{FF2B5EF4-FFF2-40B4-BE49-F238E27FC236}">
                <a16:creationId xmlns:a16="http://schemas.microsoft.com/office/drawing/2014/main" id="{43594D1E-CD51-597D-D16D-A32381F24302}"/>
              </a:ext>
            </a:extLst>
          </p:cNvPr>
          <p:cNvSpPr/>
          <p:nvPr/>
        </p:nvSpPr>
        <p:spPr>
          <a:xfrm>
            <a:off x="14699314" y="4381500"/>
            <a:ext cx="3112827" cy="3018720"/>
          </a:xfrm>
          <a:custGeom>
            <a:avLst/>
            <a:gdLst/>
            <a:ahLst/>
            <a:cxnLst/>
            <a:rect l="l" t="t" r="r" b="b"/>
            <a:pathLst>
              <a:path w="3992828" h="3992828">
                <a:moveTo>
                  <a:pt x="0" y="0"/>
                </a:moveTo>
                <a:lnTo>
                  <a:pt x="3992828" y="0"/>
                </a:lnTo>
                <a:lnTo>
                  <a:pt x="3992828" y="3992828"/>
                </a:lnTo>
                <a:lnTo>
                  <a:pt x="0" y="3992828"/>
                </a:lnTo>
                <a:lnTo>
                  <a:pt x="0" y="0"/>
                </a:lnTo>
                <a:close/>
              </a:path>
            </a:pathLst>
          </a:custGeom>
          <a:blipFill>
            <a:blip r:embed="rId5"/>
            <a:stretch>
              <a:fillRect/>
            </a:stretch>
          </a:blipFill>
        </p:spPr>
        <p:txBody>
          <a:bodyPr/>
          <a:lstStyle/>
          <a:p>
            <a:endParaRPr lang="en-US" dirty="0"/>
          </a:p>
        </p:txBody>
      </p:sp>
      <p:grpSp>
        <p:nvGrpSpPr>
          <p:cNvPr id="2" name="Group 2">
            <a:extLst>
              <a:ext uri="{FF2B5EF4-FFF2-40B4-BE49-F238E27FC236}">
                <a16:creationId xmlns:a16="http://schemas.microsoft.com/office/drawing/2014/main" id="{A465A8CB-939B-4339-B4E9-35D77EA154B6}"/>
              </a:ext>
            </a:extLst>
          </p:cNvPr>
          <p:cNvGrpSpPr/>
          <p:nvPr/>
        </p:nvGrpSpPr>
        <p:grpSpPr>
          <a:xfrm>
            <a:off x="18364486" y="495300"/>
            <a:ext cx="7343202" cy="7343202"/>
            <a:chOff x="0" y="0"/>
            <a:chExt cx="812800" cy="812800"/>
          </a:xfrm>
        </p:grpSpPr>
        <p:sp>
          <p:nvSpPr>
            <p:cNvPr id="3" name="Freeform 3">
              <a:extLst>
                <a:ext uri="{FF2B5EF4-FFF2-40B4-BE49-F238E27FC236}">
                  <a16:creationId xmlns:a16="http://schemas.microsoft.com/office/drawing/2014/main" id="{9DC74977-FD33-597D-11E6-495F85C448F5}"/>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7" name="Group 4">
            <a:extLst>
              <a:ext uri="{FF2B5EF4-FFF2-40B4-BE49-F238E27FC236}">
                <a16:creationId xmlns:a16="http://schemas.microsoft.com/office/drawing/2014/main" id="{C1EC7938-6E05-2293-97F3-9F142E77D065}"/>
              </a:ext>
            </a:extLst>
          </p:cNvPr>
          <p:cNvGrpSpPr/>
          <p:nvPr/>
        </p:nvGrpSpPr>
        <p:grpSpPr>
          <a:xfrm>
            <a:off x="-7609902" y="5890860"/>
            <a:ext cx="7343202" cy="7343202"/>
            <a:chOff x="0" y="0"/>
            <a:chExt cx="812800" cy="812800"/>
          </a:xfrm>
        </p:grpSpPr>
        <p:sp>
          <p:nvSpPr>
            <p:cNvPr id="10" name="Freeform 5">
              <a:extLst>
                <a:ext uri="{FF2B5EF4-FFF2-40B4-BE49-F238E27FC236}">
                  <a16:creationId xmlns:a16="http://schemas.microsoft.com/office/drawing/2014/main" id="{8CAFBC82-4C93-59B8-FE7A-EAAE4413E813}"/>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
        <p:nvSpPr>
          <p:cNvPr id="11" name="Freeform 12">
            <a:extLst>
              <a:ext uri="{FF2B5EF4-FFF2-40B4-BE49-F238E27FC236}">
                <a16:creationId xmlns:a16="http://schemas.microsoft.com/office/drawing/2014/main" id="{0071049E-E620-F42F-735A-F50A1BFD55F6}"/>
              </a:ext>
            </a:extLst>
          </p:cNvPr>
          <p:cNvSpPr/>
          <p:nvPr/>
        </p:nvSpPr>
        <p:spPr>
          <a:xfrm>
            <a:off x="-19879023" y="8647938"/>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2732628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99617-27CA-7A61-0CFA-70BA39648ADA}"/>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3D9DB07F-D5A1-D3BE-75E1-25E1DB83C8FD}"/>
              </a:ext>
            </a:extLst>
          </p:cNvPr>
          <p:cNvSpPr/>
          <p:nvPr/>
        </p:nvSpPr>
        <p:spPr>
          <a:xfrm flipH="1" flipV="1">
            <a:off x="-533400" y="-419101"/>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C0DDAC76-1343-FAD7-8271-0C8EEB1EC5CF}"/>
              </a:ext>
            </a:extLst>
          </p:cNvPr>
          <p:cNvSpPr txBox="1"/>
          <p:nvPr/>
        </p:nvSpPr>
        <p:spPr>
          <a:xfrm>
            <a:off x="1143000" y="1650270"/>
            <a:ext cx="10629900" cy="1282402"/>
          </a:xfrm>
          <a:prstGeom prst="rect">
            <a:avLst/>
          </a:prstGeom>
        </p:spPr>
        <p:txBody>
          <a:bodyPr wrap="square" lIns="0" tIns="0" rIns="0" bIns="0" rtlCol="0" anchor="t">
            <a:spAutoFit/>
          </a:bodyPr>
          <a:lstStyle/>
          <a:p>
            <a:pPr algn="l">
              <a:lnSpc>
                <a:spcPts val="9999"/>
              </a:lnSpc>
            </a:pPr>
            <a:r>
              <a:rPr lang="en-US" sz="9600" b="1" dirty="0"/>
              <a:t>Risks</a:t>
            </a:r>
            <a:endParaRPr lang="en-US" sz="9999"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262E1453-8F59-8F16-6772-62EADB8E6E53}"/>
              </a:ext>
            </a:extLst>
          </p:cNvPr>
          <p:cNvSpPr txBox="1"/>
          <p:nvPr/>
        </p:nvSpPr>
        <p:spPr>
          <a:xfrm>
            <a:off x="1143000" y="3238500"/>
            <a:ext cx="13182600" cy="5755422"/>
          </a:xfrm>
          <a:prstGeom prst="rect">
            <a:avLst/>
          </a:prstGeom>
        </p:spPr>
        <p:txBody>
          <a:bodyPr wrap="square" lIns="0" tIns="0" rIns="0" bIns="0" rtlCol="0" anchor="t">
            <a:spAutoFit/>
          </a:bodyPr>
          <a:lstStyle/>
          <a:p>
            <a:pPr>
              <a:buFont typeface="Arial" panose="020B0604020202020204" pitchFamily="34" charset="0"/>
              <a:buChar char="•"/>
            </a:pPr>
            <a:r>
              <a:rPr lang="en-US" sz="3400" b="1" dirty="0"/>
              <a:t>Unreliable Craftsmen:</a:t>
            </a:r>
            <a:r>
              <a:rPr lang="en-US" sz="3400" dirty="0"/>
              <a:t> Missed deadlines or poor work may affect trust.</a:t>
            </a:r>
            <a:br>
              <a:rPr lang="en-US" sz="3400" dirty="0"/>
            </a:br>
            <a:r>
              <a:rPr lang="en-US" sz="3400" i="1" dirty="0"/>
              <a:t>→ Mitigation:</a:t>
            </a:r>
            <a:r>
              <a:rPr lang="en-US" sz="3400" dirty="0"/>
              <a:t> Strict rating system, penalties for no-shows, and skill verification.</a:t>
            </a:r>
          </a:p>
          <a:p>
            <a:pPr>
              <a:buFont typeface="Arial" panose="020B0604020202020204" pitchFamily="34" charset="0"/>
              <a:buChar char="•"/>
            </a:pPr>
            <a:r>
              <a:rPr lang="en-US" sz="3400" b="1" dirty="0"/>
              <a:t>Price Disputes:</a:t>
            </a:r>
            <a:r>
              <a:rPr lang="en-US" sz="3400" dirty="0"/>
              <a:t> Disagreements over costs, especially for extra work.</a:t>
            </a:r>
            <a:br>
              <a:rPr lang="en-US" sz="3400" dirty="0"/>
            </a:br>
            <a:r>
              <a:rPr lang="en-US" sz="3400" i="1" dirty="0"/>
              <a:t>→ Mitigation:</a:t>
            </a:r>
            <a:r>
              <a:rPr lang="en-US" sz="3400" dirty="0"/>
              <a:t> Clear terms upfront and in-app dispute resolution.</a:t>
            </a:r>
          </a:p>
          <a:p>
            <a:pPr>
              <a:buFont typeface="Arial" panose="020B0604020202020204" pitchFamily="34" charset="0"/>
              <a:buChar char="•"/>
            </a:pPr>
            <a:r>
              <a:rPr lang="en-US" sz="3400" b="1" dirty="0"/>
              <a:t>User Safety:</a:t>
            </a:r>
            <a:r>
              <a:rPr lang="en-US" sz="3400" dirty="0"/>
              <a:t> Security concerns when inviting strangers into homes.</a:t>
            </a:r>
            <a:br>
              <a:rPr lang="en-US" sz="3400" dirty="0"/>
            </a:br>
            <a:r>
              <a:rPr lang="en-US" sz="3400" i="1" dirty="0"/>
              <a:t>→ Mitigation:</a:t>
            </a:r>
            <a:r>
              <a:rPr lang="en-US" sz="3400" dirty="0"/>
              <a:t> Craftsman background checks, ID verification, and emergency reporting.</a:t>
            </a:r>
          </a:p>
          <a:p>
            <a:pPr>
              <a:buFont typeface="Arial" panose="020B0604020202020204" pitchFamily="34" charset="0"/>
              <a:buChar char="•"/>
            </a:pPr>
            <a:r>
              <a:rPr lang="en-US" sz="3400" b="1" dirty="0"/>
              <a:t>Technical Issues:</a:t>
            </a:r>
            <a:r>
              <a:rPr lang="en-US" sz="3400" dirty="0"/>
              <a:t> App crashes or downtime could frustrate users.</a:t>
            </a:r>
            <a:br>
              <a:rPr lang="en-US" sz="3400" dirty="0"/>
            </a:br>
            <a:r>
              <a:rPr lang="en-US" sz="3400" i="1" dirty="0"/>
              <a:t>→ Mitigation:</a:t>
            </a:r>
            <a:r>
              <a:rPr lang="en-US" sz="3400" dirty="0"/>
              <a:t> Regular updates, strong infrastructure, and responsive support.</a:t>
            </a:r>
          </a:p>
        </p:txBody>
      </p:sp>
      <p:sp>
        <p:nvSpPr>
          <p:cNvPr id="2" name="Freeform 12">
            <a:extLst>
              <a:ext uri="{FF2B5EF4-FFF2-40B4-BE49-F238E27FC236}">
                <a16:creationId xmlns:a16="http://schemas.microsoft.com/office/drawing/2014/main" id="{C07887F6-9EA1-3454-3D85-1E5BC907A559}"/>
              </a:ext>
            </a:extLst>
          </p:cNvPr>
          <p:cNvSpPr/>
          <p:nvPr/>
        </p:nvSpPr>
        <p:spPr>
          <a:xfrm>
            <a:off x="-1062212" y="8636730"/>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3" name="Group 4">
            <a:extLst>
              <a:ext uri="{FF2B5EF4-FFF2-40B4-BE49-F238E27FC236}">
                <a16:creationId xmlns:a16="http://schemas.microsoft.com/office/drawing/2014/main" id="{CC7B58E2-6DF0-3331-2F39-B22F6FCAF303}"/>
              </a:ext>
            </a:extLst>
          </p:cNvPr>
          <p:cNvGrpSpPr/>
          <p:nvPr/>
        </p:nvGrpSpPr>
        <p:grpSpPr>
          <a:xfrm>
            <a:off x="-4495800" y="7211843"/>
            <a:ext cx="7343202" cy="7343202"/>
            <a:chOff x="0" y="0"/>
            <a:chExt cx="812800" cy="812800"/>
          </a:xfrm>
        </p:grpSpPr>
        <p:sp>
          <p:nvSpPr>
            <p:cNvPr id="7" name="Freeform 5">
              <a:extLst>
                <a:ext uri="{FF2B5EF4-FFF2-40B4-BE49-F238E27FC236}">
                  <a16:creationId xmlns:a16="http://schemas.microsoft.com/office/drawing/2014/main" id="{53268416-FF98-8C59-2195-091C5C40683C}"/>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10" name="Group 2">
            <a:extLst>
              <a:ext uri="{FF2B5EF4-FFF2-40B4-BE49-F238E27FC236}">
                <a16:creationId xmlns:a16="http://schemas.microsoft.com/office/drawing/2014/main" id="{5D70B15F-CA30-22D4-8BCB-E16461AD5605}"/>
              </a:ext>
            </a:extLst>
          </p:cNvPr>
          <p:cNvGrpSpPr/>
          <p:nvPr/>
        </p:nvGrpSpPr>
        <p:grpSpPr>
          <a:xfrm>
            <a:off x="16608998" y="-170487"/>
            <a:ext cx="7343202" cy="7343202"/>
            <a:chOff x="0" y="0"/>
            <a:chExt cx="812800" cy="812800"/>
          </a:xfrm>
        </p:grpSpPr>
        <p:sp>
          <p:nvSpPr>
            <p:cNvPr id="11" name="Freeform 3">
              <a:extLst>
                <a:ext uri="{FF2B5EF4-FFF2-40B4-BE49-F238E27FC236}">
                  <a16:creationId xmlns:a16="http://schemas.microsoft.com/office/drawing/2014/main" id="{6CC41F65-7146-6CC7-91E2-16F632BBA050}"/>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1761243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6BE09-3639-CEB8-3359-356E811936F7}"/>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71C13360-F200-EF27-F733-947BF8572C9A}"/>
              </a:ext>
            </a:extLst>
          </p:cNvPr>
          <p:cNvSpPr/>
          <p:nvPr/>
        </p:nvSpPr>
        <p:spPr>
          <a:xfrm flipH="1" flipV="1">
            <a:off x="-533400" y="-419101"/>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11F9B75E-9ED0-A14B-D36E-B5F04ECADF7C}"/>
              </a:ext>
            </a:extLst>
          </p:cNvPr>
          <p:cNvSpPr txBox="1"/>
          <p:nvPr/>
        </p:nvSpPr>
        <p:spPr>
          <a:xfrm>
            <a:off x="1143000" y="1650270"/>
            <a:ext cx="10629900" cy="1228863"/>
          </a:xfrm>
          <a:prstGeom prst="rect">
            <a:avLst/>
          </a:prstGeom>
        </p:spPr>
        <p:txBody>
          <a:bodyPr wrap="square" lIns="0" tIns="0" rIns="0" bIns="0" rtlCol="0" anchor="t">
            <a:spAutoFit/>
          </a:bodyPr>
          <a:lstStyle/>
          <a:p>
            <a:pPr algn="l">
              <a:lnSpc>
                <a:spcPts val="9999"/>
              </a:lnSpc>
            </a:pPr>
            <a:r>
              <a:rPr lang="en-US" sz="8000" b="1" dirty="0"/>
              <a:t>Functional Area</a:t>
            </a:r>
            <a:endParaRPr lang="en-US" sz="8000"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E206E1C2-F6D9-7F3E-545A-065E3838C525}"/>
              </a:ext>
            </a:extLst>
          </p:cNvPr>
          <p:cNvSpPr txBox="1"/>
          <p:nvPr/>
        </p:nvSpPr>
        <p:spPr>
          <a:xfrm>
            <a:off x="1143000" y="3238500"/>
            <a:ext cx="13030200" cy="6093976"/>
          </a:xfrm>
          <a:prstGeom prst="rect">
            <a:avLst/>
          </a:prstGeom>
        </p:spPr>
        <p:txBody>
          <a:bodyPr wrap="square" lIns="0" tIns="0" rIns="0" bIns="0" rtlCol="0" anchor="t">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User Accounts:</a:t>
            </a:r>
            <a:r>
              <a:rPr kumimoji="0" lang="en-US" altLang="en-US" sz="3600" b="0" i="0" u="none" strike="noStrike" cap="none" normalizeH="0" baseline="0" dirty="0">
                <a:ln>
                  <a:noFill/>
                </a:ln>
                <a:solidFill>
                  <a:schemeClr val="tx1"/>
                </a:solidFill>
                <a:effectLst/>
                <a:latin typeface="Arial" panose="020B0604020202020204" pitchFamily="34" charset="0"/>
              </a:rPr>
              <a:t> Registration and secure login for homeowners and craftsmen via email, phone, or social media.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Job Requests &amp; Bidding:</a:t>
            </a:r>
            <a:r>
              <a:rPr kumimoji="0" lang="en-US" altLang="en-US" sz="3600" b="0" i="0" u="none" strike="noStrike" cap="none" normalizeH="0" baseline="0" dirty="0">
                <a:ln>
                  <a:noFill/>
                </a:ln>
                <a:solidFill>
                  <a:schemeClr val="tx1"/>
                </a:solidFill>
                <a:effectLst/>
                <a:latin typeface="Arial" panose="020B0604020202020204" pitchFamily="34" charset="0"/>
              </a:rPr>
              <a:t> Homeowners post job details; craftsmen can bid or negotiate.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Booking System:</a:t>
            </a:r>
            <a:r>
              <a:rPr kumimoji="0" lang="en-US" altLang="en-US" sz="3600" b="0" i="0" u="none" strike="noStrike" cap="none" normalizeH="0" baseline="0" dirty="0">
                <a:ln>
                  <a:noFill/>
                </a:ln>
                <a:solidFill>
                  <a:schemeClr val="tx1"/>
                </a:solidFill>
                <a:effectLst/>
                <a:latin typeface="Arial" panose="020B0604020202020204" pitchFamily="34" charset="0"/>
              </a:rPr>
              <a:t> Users can confirm and schedule jobs.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Ratings &amp; Reviews:</a:t>
            </a:r>
            <a:r>
              <a:rPr kumimoji="0" lang="en-US" altLang="en-US" sz="3600" b="0" i="0" u="none" strike="noStrike" cap="none" normalizeH="0" baseline="0" dirty="0">
                <a:ln>
                  <a:noFill/>
                </a:ln>
                <a:solidFill>
                  <a:schemeClr val="tx1"/>
                </a:solidFill>
                <a:effectLst/>
                <a:latin typeface="Arial" panose="020B0604020202020204" pitchFamily="34" charset="0"/>
              </a:rPr>
              <a:t> Both parties rate each other; reviews are public to build trust.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In-App Messaging:</a:t>
            </a:r>
            <a:r>
              <a:rPr kumimoji="0" lang="en-US" altLang="en-US" sz="3600" b="0" i="0" u="none" strike="noStrike" cap="none" normalizeH="0" baseline="0" dirty="0">
                <a:ln>
                  <a:noFill/>
                </a:ln>
                <a:solidFill>
                  <a:schemeClr val="tx1"/>
                </a:solidFill>
                <a:effectLst/>
                <a:latin typeface="Arial" panose="020B0604020202020204" pitchFamily="34" charset="0"/>
              </a:rPr>
              <a:t> Secure chat for discussing job details, with saved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Admin Dashboard:</a:t>
            </a:r>
            <a:r>
              <a:rPr kumimoji="0" lang="en-US" altLang="en-US" sz="3600" b="0" i="0" u="none" strike="noStrike" cap="none" normalizeH="0" baseline="0" dirty="0">
                <a:ln>
                  <a:noFill/>
                </a:ln>
                <a:solidFill>
                  <a:schemeClr val="tx1"/>
                </a:solidFill>
                <a:effectLst/>
                <a:latin typeface="Arial" panose="020B0604020202020204" pitchFamily="34" charset="0"/>
              </a:rPr>
              <a:t> Admins manage users, monitor activity, resolve disputes, and access platform analytics.</a:t>
            </a:r>
          </a:p>
        </p:txBody>
      </p:sp>
      <p:sp>
        <p:nvSpPr>
          <p:cNvPr id="2" name="Freeform 12">
            <a:extLst>
              <a:ext uri="{FF2B5EF4-FFF2-40B4-BE49-F238E27FC236}">
                <a16:creationId xmlns:a16="http://schemas.microsoft.com/office/drawing/2014/main" id="{4FF74669-B684-B715-A2A3-A7097BF2E41F}"/>
              </a:ext>
            </a:extLst>
          </p:cNvPr>
          <p:cNvSpPr/>
          <p:nvPr/>
        </p:nvSpPr>
        <p:spPr>
          <a:xfrm>
            <a:off x="-304800" y="8640783"/>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10" name="Group 2">
            <a:extLst>
              <a:ext uri="{FF2B5EF4-FFF2-40B4-BE49-F238E27FC236}">
                <a16:creationId xmlns:a16="http://schemas.microsoft.com/office/drawing/2014/main" id="{A96228B4-3C18-F27B-93DC-ADDC5B413BF6}"/>
              </a:ext>
            </a:extLst>
          </p:cNvPr>
          <p:cNvGrpSpPr/>
          <p:nvPr/>
        </p:nvGrpSpPr>
        <p:grpSpPr>
          <a:xfrm rot="16756783" flipH="1" flipV="1">
            <a:off x="16230600" y="-419101"/>
            <a:ext cx="8099998" cy="7840430"/>
            <a:chOff x="0" y="0"/>
            <a:chExt cx="812800" cy="812800"/>
          </a:xfrm>
        </p:grpSpPr>
        <p:sp>
          <p:nvSpPr>
            <p:cNvPr id="11" name="Freeform 3">
              <a:extLst>
                <a:ext uri="{FF2B5EF4-FFF2-40B4-BE49-F238E27FC236}">
                  <a16:creationId xmlns:a16="http://schemas.microsoft.com/office/drawing/2014/main" id="{A03F3334-6CDD-B9EE-E71E-2899BA29EE84}"/>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8" name="Group 4">
            <a:extLst>
              <a:ext uri="{FF2B5EF4-FFF2-40B4-BE49-F238E27FC236}">
                <a16:creationId xmlns:a16="http://schemas.microsoft.com/office/drawing/2014/main" id="{8648ACF2-80C3-9348-10F5-8C5C3283AABC}"/>
              </a:ext>
            </a:extLst>
          </p:cNvPr>
          <p:cNvGrpSpPr/>
          <p:nvPr/>
        </p:nvGrpSpPr>
        <p:grpSpPr>
          <a:xfrm rot="5400000">
            <a:off x="-4632008" y="7076764"/>
            <a:ext cx="7391399" cy="7423782"/>
            <a:chOff x="0" y="0"/>
            <a:chExt cx="812800" cy="812800"/>
          </a:xfrm>
        </p:grpSpPr>
        <p:sp>
          <p:nvSpPr>
            <p:cNvPr id="9" name="Freeform 5">
              <a:extLst>
                <a:ext uri="{FF2B5EF4-FFF2-40B4-BE49-F238E27FC236}">
                  <a16:creationId xmlns:a16="http://schemas.microsoft.com/office/drawing/2014/main" id="{08DC03E4-EDBF-1712-43CC-535748250CAF}"/>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2618217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F32AC-BFBD-2285-E9B3-D401F764A6C2}"/>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B3C556CE-69D8-D298-E293-4458EE04E13D}"/>
              </a:ext>
            </a:extLst>
          </p:cNvPr>
          <p:cNvSpPr/>
          <p:nvPr/>
        </p:nvSpPr>
        <p:spPr>
          <a:xfrm flipH="1" flipV="1">
            <a:off x="0" y="-8817"/>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3FDCE247-C6B9-743E-4F60-A5DE9B50E817}"/>
              </a:ext>
            </a:extLst>
          </p:cNvPr>
          <p:cNvSpPr txBox="1"/>
          <p:nvPr/>
        </p:nvSpPr>
        <p:spPr>
          <a:xfrm>
            <a:off x="1143000" y="1650270"/>
            <a:ext cx="11963400" cy="1195520"/>
          </a:xfrm>
          <a:prstGeom prst="rect">
            <a:avLst/>
          </a:prstGeom>
        </p:spPr>
        <p:txBody>
          <a:bodyPr wrap="square" lIns="0" tIns="0" rIns="0" bIns="0" rtlCol="0" anchor="t">
            <a:spAutoFit/>
          </a:bodyPr>
          <a:lstStyle/>
          <a:p>
            <a:pPr algn="l">
              <a:lnSpc>
                <a:spcPts val="9999"/>
              </a:lnSpc>
            </a:pPr>
            <a:r>
              <a:rPr lang="en-US" sz="7000" b="1" dirty="0"/>
              <a:t>Non-functional Area</a:t>
            </a:r>
            <a:endParaRPr lang="en-US" sz="7000"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1C8CA43F-8F18-0221-B8E0-7BF0AB88BE98}"/>
              </a:ext>
            </a:extLst>
          </p:cNvPr>
          <p:cNvSpPr txBox="1"/>
          <p:nvPr/>
        </p:nvSpPr>
        <p:spPr>
          <a:xfrm>
            <a:off x="1143000" y="3238500"/>
            <a:ext cx="13030200" cy="5539978"/>
          </a:xfrm>
          <a:prstGeom prst="rect">
            <a:avLst/>
          </a:prstGeom>
        </p:spPr>
        <p:txBody>
          <a:bodyPr wrap="square" lIns="0" tIns="0" rIns="0" bIns="0" rtlCol="0" anchor="t">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Security:</a:t>
            </a:r>
            <a:r>
              <a:rPr kumimoji="0" lang="en-US" altLang="en-US" sz="3600" b="0" i="0" u="none" strike="noStrike" cap="none" normalizeH="0" baseline="0" dirty="0">
                <a:ln>
                  <a:noFill/>
                </a:ln>
                <a:solidFill>
                  <a:schemeClr val="tx1"/>
                </a:solidFill>
                <a:effectLst/>
                <a:latin typeface="Arial" panose="020B0604020202020204" pitchFamily="34" charset="0"/>
              </a:rPr>
              <a:t> Ensure data encryption for user privacy and secure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Scalability:</a:t>
            </a:r>
            <a:r>
              <a:rPr kumimoji="0" lang="en-US" altLang="en-US" sz="3600" b="0" i="0" u="none" strike="noStrike" cap="none" normalizeH="0" baseline="0" dirty="0">
                <a:ln>
                  <a:noFill/>
                </a:ln>
                <a:solidFill>
                  <a:schemeClr val="tx1"/>
                </a:solidFill>
                <a:effectLst/>
                <a:latin typeface="Arial" panose="020B0604020202020204" pitchFamily="34" charset="0"/>
              </a:rPr>
              <a:t> Support increasing users and transactions without affecting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Performance:</a:t>
            </a:r>
            <a:r>
              <a:rPr kumimoji="0" lang="en-US" altLang="en-US" sz="3600" b="0" i="0" u="none" strike="noStrike" cap="none" normalizeH="0" baseline="0" dirty="0">
                <a:ln>
                  <a:noFill/>
                </a:ln>
                <a:solidFill>
                  <a:schemeClr val="tx1"/>
                </a:solidFill>
                <a:effectLst/>
                <a:latin typeface="Arial" panose="020B0604020202020204" pitchFamily="34" charset="0"/>
              </a:rPr>
              <a:t> Fast page loads and minimal delays in processing, especially for payments.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Usability:</a:t>
            </a:r>
            <a:r>
              <a:rPr kumimoji="0" lang="en-US" altLang="en-US" sz="3600" b="0" i="0" u="none" strike="noStrike" cap="none" normalizeH="0" baseline="0" dirty="0">
                <a:ln>
                  <a:noFill/>
                </a:ln>
                <a:solidFill>
                  <a:schemeClr val="tx1"/>
                </a:solidFill>
                <a:effectLst/>
                <a:latin typeface="Arial" panose="020B0604020202020204" pitchFamily="34" charset="0"/>
              </a:rPr>
              <a:t> Intuitive interface with multi-language support for better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Compliance:</a:t>
            </a:r>
            <a:r>
              <a:rPr kumimoji="0" lang="en-US" altLang="en-US" sz="3600" b="0" i="0" u="none" strike="noStrike" cap="none" normalizeH="0" baseline="0" dirty="0">
                <a:ln>
                  <a:noFill/>
                </a:ln>
                <a:solidFill>
                  <a:schemeClr val="tx1"/>
                </a:solidFill>
                <a:effectLst/>
                <a:latin typeface="Arial" panose="020B0604020202020204" pitchFamily="34" charset="0"/>
              </a:rPr>
              <a:t> Adhere to data protection laws (e.g., GDPR) and local labor/tax regulations.</a:t>
            </a:r>
          </a:p>
        </p:txBody>
      </p:sp>
      <p:sp>
        <p:nvSpPr>
          <p:cNvPr id="2" name="Freeform 12">
            <a:extLst>
              <a:ext uri="{FF2B5EF4-FFF2-40B4-BE49-F238E27FC236}">
                <a16:creationId xmlns:a16="http://schemas.microsoft.com/office/drawing/2014/main" id="{97FC4D16-AC21-1359-DFC8-0951353DAB7D}"/>
              </a:ext>
            </a:extLst>
          </p:cNvPr>
          <p:cNvSpPr/>
          <p:nvPr/>
        </p:nvSpPr>
        <p:spPr>
          <a:xfrm>
            <a:off x="0" y="8616358"/>
            <a:ext cx="218602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10" name="Group 2">
            <a:extLst>
              <a:ext uri="{FF2B5EF4-FFF2-40B4-BE49-F238E27FC236}">
                <a16:creationId xmlns:a16="http://schemas.microsoft.com/office/drawing/2014/main" id="{30514D35-F291-8703-33DE-4B6C13ED6B6A}"/>
              </a:ext>
            </a:extLst>
          </p:cNvPr>
          <p:cNvGrpSpPr/>
          <p:nvPr/>
        </p:nvGrpSpPr>
        <p:grpSpPr>
          <a:xfrm rot="11334446" flipH="1" flipV="1">
            <a:off x="16230600" y="-419101"/>
            <a:ext cx="8099998" cy="7840430"/>
            <a:chOff x="0" y="0"/>
            <a:chExt cx="812800" cy="812800"/>
          </a:xfrm>
        </p:grpSpPr>
        <p:sp>
          <p:nvSpPr>
            <p:cNvPr id="11" name="Freeform 3">
              <a:extLst>
                <a:ext uri="{FF2B5EF4-FFF2-40B4-BE49-F238E27FC236}">
                  <a16:creationId xmlns:a16="http://schemas.microsoft.com/office/drawing/2014/main" id="{06DC454F-D8E2-116F-C516-8432195E9EC6}"/>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8" name="Group 4">
            <a:extLst>
              <a:ext uri="{FF2B5EF4-FFF2-40B4-BE49-F238E27FC236}">
                <a16:creationId xmlns:a16="http://schemas.microsoft.com/office/drawing/2014/main" id="{0ED24F29-4852-EC4D-AD94-B6C112F7B8B1}"/>
              </a:ext>
            </a:extLst>
          </p:cNvPr>
          <p:cNvGrpSpPr/>
          <p:nvPr/>
        </p:nvGrpSpPr>
        <p:grpSpPr>
          <a:xfrm rot="11336518">
            <a:off x="-5335362" y="6130025"/>
            <a:ext cx="7391399" cy="7423782"/>
            <a:chOff x="0" y="0"/>
            <a:chExt cx="812800" cy="812800"/>
          </a:xfrm>
        </p:grpSpPr>
        <p:sp>
          <p:nvSpPr>
            <p:cNvPr id="9" name="Freeform 5">
              <a:extLst>
                <a:ext uri="{FF2B5EF4-FFF2-40B4-BE49-F238E27FC236}">
                  <a16:creationId xmlns:a16="http://schemas.microsoft.com/office/drawing/2014/main" id="{1F68F920-5869-3A8D-FB55-FA197F86D04D}"/>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234452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510D0-6BED-9179-33AF-2DB50FE14D23}"/>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7F40D4DF-6BB4-0DC8-9232-FC03BF3AA815}"/>
              </a:ext>
            </a:extLst>
          </p:cNvPr>
          <p:cNvSpPr/>
          <p:nvPr/>
        </p:nvSpPr>
        <p:spPr>
          <a:xfrm flipH="1" flipV="1">
            <a:off x="-266700" y="-3443459"/>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6182A0DC-61CB-288A-56CB-2C98400CE2C4}"/>
              </a:ext>
            </a:extLst>
          </p:cNvPr>
          <p:cNvSpPr txBox="1"/>
          <p:nvPr/>
        </p:nvSpPr>
        <p:spPr>
          <a:xfrm>
            <a:off x="3162300" y="3888766"/>
            <a:ext cx="13373100" cy="1282402"/>
          </a:xfrm>
          <a:prstGeom prst="rect">
            <a:avLst/>
          </a:prstGeom>
        </p:spPr>
        <p:txBody>
          <a:bodyPr wrap="square" lIns="0" tIns="0" rIns="0" bIns="0" rtlCol="0" anchor="t">
            <a:spAutoFit/>
          </a:bodyPr>
          <a:lstStyle/>
          <a:p>
            <a:pPr algn="l">
              <a:lnSpc>
                <a:spcPts val="9999"/>
              </a:lnSpc>
            </a:pPr>
            <a:r>
              <a:rPr lang="en-US" sz="9600" b="1" dirty="0"/>
              <a:t>System Analysis and ERD</a:t>
            </a: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2356E8EF-F6FC-A829-1B0E-378CD38EEE10}"/>
              </a:ext>
            </a:extLst>
          </p:cNvPr>
          <p:cNvSpPr/>
          <p:nvPr/>
        </p:nvSpPr>
        <p:spPr>
          <a:xfrm>
            <a:off x="4864" y="8601873"/>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10" name="Group 2">
            <a:extLst>
              <a:ext uri="{FF2B5EF4-FFF2-40B4-BE49-F238E27FC236}">
                <a16:creationId xmlns:a16="http://schemas.microsoft.com/office/drawing/2014/main" id="{D28AB9B3-658E-3A8B-47C1-A93DF506C45B}"/>
              </a:ext>
            </a:extLst>
          </p:cNvPr>
          <p:cNvGrpSpPr/>
          <p:nvPr/>
        </p:nvGrpSpPr>
        <p:grpSpPr>
          <a:xfrm rot="11334446" flipH="1" flipV="1">
            <a:off x="18541357" y="-1110163"/>
            <a:ext cx="8099998" cy="7840430"/>
            <a:chOff x="0" y="0"/>
            <a:chExt cx="812800" cy="812800"/>
          </a:xfrm>
        </p:grpSpPr>
        <p:sp>
          <p:nvSpPr>
            <p:cNvPr id="11" name="Freeform 3">
              <a:extLst>
                <a:ext uri="{FF2B5EF4-FFF2-40B4-BE49-F238E27FC236}">
                  <a16:creationId xmlns:a16="http://schemas.microsoft.com/office/drawing/2014/main" id="{FB5AB94C-E2DF-36ED-718F-40208AF64360}"/>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8" name="Group 4">
            <a:extLst>
              <a:ext uri="{FF2B5EF4-FFF2-40B4-BE49-F238E27FC236}">
                <a16:creationId xmlns:a16="http://schemas.microsoft.com/office/drawing/2014/main" id="{D5123858-647D-BBCC-C0AF-97A16EB83834}"/>
              </a:ext>
            </a:extLst>
          </p:cNvPr>
          <p:cNvGrpSpPr/>
          <p:nvPr/>
        </p:nvGrpSpPr>
        <p:grpSpPr>
          <a:xfrm rot="11336518">
            <a:off x="-6021164" y="8644623"/>
            <a:ext cx="7391399" cy="7423782"/>
            <a:chOff x="0" y="0"/>
            <a:chExt cx="812800" cy="812800"/>
          </a:xfrm>
        </p:grpSpPr>
        <p:sp>
          <p:nvSpPr>
            <p:cNvPr id="9" name="Freeform 5">
              <a:extLst>
                <a:ext uri="{FF2B5EF4-FFF2-40B4-BE49-F238E27FC236}">
                  <a16:creationId xmlns:a16="http://schemas.microsoft.com/office/drawing/2014/main" id="{D100F766-44D4-4EA8-6A38-97FE0C82A69B}"/>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2676539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A237-AF84-2DC9-AE9A-2BB7AD0FB75E}"/>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00C121F7-9884-E82C-561A-4656FDF0D0A5}"/>
              </a:ext>
            </a:extLst>
          </p:cNvPr>
          <p:cNvSpPr txBox="1"/>
          <p:nvPr/>
        </p:nvSpPr>
        <p:spPr>
          <a:xfrm>
            <a:off x="3162300" y="3888766"/>
            <a:ext cx="13373100" cy="2465996"/>
          </a:xfrm>
          <a:prstGeom prst="rect">
            <a:avLst/>
          </a:prstGeom>
        </p:spPr>
        <p:txBody>
          <a:bodyPr wrap="square" lIns="0" tIns="0" rIns="0" bIns="0" rtlCol="0" anchor="t">
            <a:spAutoFit/>
          </a:bodyPr>
          <a:lstStyle/>
          <a:p>
            <a:pPr algn="l">
              <a:lnSpc>
                <a:spcPts val="9999"/>
              </a:lnSpc>
            </a:pPr>
            <a:r>
              <a:rPr lang="en-US" sz="9600" b="1" kern="100" dirty="0">
                <a:effectLst/>
                <a:latin typeface="Aptos" panose="020B0004020202020204" pitchFamily="34" charset="0"/>
                <a:ea typeface="Aptos" panose="020B0004020202020204" pitchFamily="34" charset="0"/>
                <a:cs typeface="Arial" panose="020B0604020202020204" pitchFamily="34" charset="0"/>
              </a:rPr>
              <a:t>1-Context Diagram </a:t>
            </a:r>
            <a:br>
              <a:rPr lang="en-US" sz="9600" kern="100" dirty="0">
                <a:effectLst/>
                <a:latin typeface="Aptos" panose="020B0004020202020204" pitchFamily="34" charset="0"/>
                <a:ea typeface="Aptos" panose="020B0004020202020204" pitchFamily="34" charset="0"/>
                <a:cs typeface="Arial" panose="020B0604020202020204" pitchFamily="34" charset="0"/>
              </a:rPr>
            </a:b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ACD16242-990A-DC47-FD91-24B92038B5CE}"/>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1149263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62B4D1-7811-7B41-024E-4A586552502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Content Placeholder 3">
            <a:extLst>
              <a:ext uri="{FF2B5EF4-FFF2-40B4-BE49-F238E27FC236}">
                <a16:creationId xmlns:a16="http://schemas.microsoft.com/office/drawing/2014/main" id="{29BCDD43-20B6-9441-ADD9-F3BB12BEDCD3}"/>
              </a:ext>
            </a:extLst>
          </p:cNvPr>
          <p:cNvPicPr>
            <a:picLocks noGrp="1"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600" y="90972"/>
            <a:ext cx="17830800" cy="10196028"/>
          </a:xfrm>
          <a:prstGeom prst="rect">
            <a:avLst/>
          </a:prstGeom>
          <a:ln>
            <a:noFill/>
          </a:ln>
          <a:effectLst>
            <a:softEdge rad="112500"/>
          </a:effectLst>
        </p:spPr>
      </p:pic>
    </p:spTree>
    <p:extLst>
      <p:ext uri="{BB962C8B-B14F-4D97-AF65-F5344CB8AC3E}">
        <p14:creationId xmlns:p14="http://schemas.microsoft.com/office/powerpoint/2010/main" val="4247944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E50A8-CEB9-D873-F7E5-284B620B1FCC}"/>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57C59A85-65DE-D6E2-0481-D52086153E4C}"/>
              </a:ext>
            </a:extLst>
          </p:cNvPr>
          <p:cNvSpPr txBox="1"/>
          <p:nvPr/>
        </p:nvSpPr>
        <p:spPr>
          <a:xfrm>
            <a:off x="3162300" y="3888766"/>
            <a:ext cx="13373100" cy="2465996"/>
          </a:xfrm>
          <a:prstGeom prst="rect">
            <a:avLst/>
          </a:prstGeom>
        </p:spPr>
        <p:txBody>
          <a:bodyPr wrap="square" lIns="0" tIns="0" rIns="0" bIns="0" rtlCol="0" anchor="t">
            <a:spAutoFit/>
          </a:bodyPr>
          <a:lstStyle/>
          <a:p>
            <a:pPr algn="l">
              <a:lnSpc>
                <a:spcPts val="9999"/>
              </a:lnSpc>
            </a:pPr>
            <a:r>
              <a:rPr lang="en-US" sz="9600" b="1" kern="100" dirty="0">
                <a:effectLst/>
                <a:latin typeface="Aptos" panose="020B0004020202020204" pitchFamily="34" charset="0"/>
                <a:ea typeface="Aptos" panose="020B0004020202020204" pitchFamily="34" charset="0"/>
                <a:cs typeface="Arial" panose="020B0604020202020204" pitchFamily="34" charset="0"/>
              </a:rPr>
              <a:t>2- Use case</a:t>
            </a:r>
            <a:br>
              <a:rPr lang="en-US" sz="9600" kern="100" dirty="0">
                <a:effectLst/>
                <a:latin typeface="Aptos" panose="020B0004020202020204" pitchFamily="34" charset="0"/>
                <a:ea typeface="Aptos" panose="020B0004020202020204" pitchFamily="34" charset="0"/>
                <a:cs typeface="Arial" panose="020B0604020202020204" pitchFamily="34" charset="0"/>
              </a:rPr>
            </a:b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1238EBC4-C41D-89FD-DF21-5799CC53B8DB}"/>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775774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8EA0B0-0479-1B54-F8B7-12B646DE33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2D4808A-F0F9-5061-9C2D-6B8D91409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Content Placeholder 3">
            <a:extLst>
              <a:ext uri="{FF2B5EF4-FFF2-40B4-BE49-F238E27FC236}">
                <a16:creationId xmlns:a16="http://schemas.microsoft.com/office/drawing/2014/main" id="{28FFBE19-2908-D1D3-35C5-C77F0EDBEEC7}"/>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1600200" y="12700"/>
            <a:ext cx="16459200" cy="9944100"/>
          </a:xfrm>
          <a:prstGeom prst="rect">
            <a:avLst/>
          </a:prstGeom>
        </p:spPr>
      </p:pic>
    </p:spTree>
    <p:extLst>
      <p:ext uri="{BB962C8B-B14F-4D97-AF65-F5344CB8AC3E}">
        <p14:creationId xmlns:p14="http://schemas.microsoft.com/office/powerpoint/2010/main" val="2375630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008AD-808E-0AA5-F496-218637AD6709}"/>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FFCB7E4D-59F9-881B-70E7-35EDDF0E1061}"/>
              </a:ext>
            </a:extLst>
          </p:cNvPr>
          <p:cNvSpPr txBox="1"/>
          <p:nvPr/>
        </p:nvSpPr>
        <p:spPr>
          <a:xfrm>
            <a:off x="3162300" y="3888766"/>
            <a:ext cx="13373100" cy="2465996"/>
          </a:xfrm>
          <a:prstGeom prst="rect">
            <a:avLst/>
          </a:prstGeom>
        </p:spPr>
        <p:txBody>
          <a:bodyPr wrap="square" lIns="0" tIns="0" rIns="0" bIns="0" rtlCol="0" anchor="t">
            <a:spAutoFit/>
          </a:bodyPr>
          <a:lstStyle/>
          <a:p>
            <a:pPr algn="l">
              <a:lnSpc>
                <a:spcPts val="9999"/>
              </a:lnSpc>
            </a:pPr>
            <a:r>
              <a:rPr lang="en-US" sz="9600" b="1" kern="100" dirty="0">
                <a:effectLst/>
                <a:latin typeface="Aptos" panose="020B0004020202020204" pitchFamily="34" charset="0"/>
                <a:ea typeface="Aptos" panose="020B0004020202020204" pitchFamily="34" charset="0"/>
                <a:cs typeface="Arial" panose="020B0604020202020204" pitchFamily="34" charset="0"/>
              </a:rPr>
              <a:t>3- class diagram</a:t>
            </a:r>
            <a:br>
              <a:rPr lang="en-US" sz="9600" kern="100" dirty="0">
                <a:effectLst/>
                <a:latin typeface="Aptos" panose="020B0004020202020204" pitchFamily="34" charset="0"/>
                <a:ea typeface="Aptos" panose="020B0004020202020204" pitchFamily="34" charset="0"/>
                <a:cs typeface="Arial" panose="020B0604020202020204" pitchFamily="34" charset="0"/>
              </a:rPr>
            </a:b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7BC17001-3A1A-2B85-F242-23C68B08CF34}"/>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1725912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5B378A-1BB0-334A-DA8E-847837073B2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28DD7B4-0845-3496-336A-F351BDB57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Content Placeholder 3">
            <a:extLst>
              <a:ext uri="{FF2B5EF4-FFF2-40B4-BE49-F238E27FC236}">
                <a16:creationId xmlns:a16="http://schemas.microsoft.com/office/drawing/2014/main" id="{E123F1ED-92B2-CC86-D7EB-0CD77385945A}"/>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723900" y="507560"/>
            <a:ext cx="16840200" cy="9741340"/>
          </a:xfrm>
          <a:prstGeom prst="rect">
            <a:avLst/>
          </a:prstGeom>
        </p:spPr>
      </p:pic>
    </p:spTree>
    <p:extLst>
      <p:ext uri="{BB962C8B-B14F-4D97-AF65-F5344CB8AC3E}">
        <p14:creationId xmlns:p14="http://schemas.microsoft.com/office/powerpoint/2010/main" val="848896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63C9F-8E62-AED0-E0E8-8C2DDDAB94B8}"/>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2BCE633D-7D0B-A12A-A0E2-81E38ACDD2FF}"/>
              </a:ext>
            </a:extLst>
          </p:cNvPr>
          <p:cNvSpPr txBox="1"/>
          <p:nvPr/>
        </p:nvSpPr>
        <p:spPr>
          <a:xfrm>
            <a:off x="2457450" y="3887143"/>
            <a:ext cx="13373100" cy="1294457"/>
          </a:xfrm>
          <a:prstGeom prst="rect">
            <a:avLst/>
          </a:prstGeom>
        </p:spPr>
        <p:txBody>
          <a:bodyPr wrap="square" lIns="0" tIns="0" rIns="0" bIns="0" rtlCol="0" anchor="t">
            <a:spAutoFit/>
          </a:bodyPr>
          <a:lstStyle/>
          <a:p>
            <a:pPr algn="l">
              <a:lnSpc>
                <a:spcPts val="9999"/>
              </a:lnSpc>
            </a:pPr>
            <a:r>
              <a:rPr lang="en-GB" sz="9600" b="1" kern="100" dirty="0">
                <a:latin typeface="Aptos" panose="020B0004020202020204" pitchFamily="34" charset="0"/>
                <a:ea typeface="Aptos" panose="020B0004020202020204" pitchFamily="34" charset="0"/>
                <a:cs typeface="Arial" panose="020B0604020202020204" pitchFamily="34" charset="0"/>
              </a:rPr>
              <a:t>4</a:t>
            </a:r>
            <a:r>
              <a:rPr lang="en-GB" sz="9600" b="1" kern="100" dirty="0">
                <a:effectLst/>
                <a:latin typeface="Aptos" panose="020B0004020202020204" pitchFamily="34" charset="0"/>
                <a:ea typeface="Aptos" panose="020B0004020202020204" pitchFamily="34" charset="0"/>
                <a:cs typeface="Arial" panose="020B0604020202020204" pitchFamily="34" charset="0"/>
              </a:rPr>
              <a:t>-SEQUENCE DIAGRAM</a:t>
            </a: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D781C010-79A0-1E1E-AD26-1755842863D4}"/>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1477350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AE98D3-3BDC-6DD5-8E13-E3A726B84D0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58588D2-658A-91A8-E4E5-A36955550D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5200" y="-13519"/>
            <a:ext cx="9906000"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174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884B-BFCF-3D26-AE87-15D59CD257A7}"/>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2074D5EC-2994-2618-5E44-DF7BEC8D34C1}"/>
              </a:ext>
            </a:extLst>
          </p:cNvPr>
          <p:cNvSpPr txBox="1"/>
          <p:nvPr/>
        </p:nvSpPr>
        <p:spPr>
          <a:xfrm>
            <a:off x="3162300" y="3888766"/>
            <a:ext cx="13373100" cy="2465996"/>
          </a:xfrm>
          <a:prstGeom prst="rect">
            <a:avLst/>
          </a:prstGeom>
        </p:spPr>
        <p:txBody>
          <a:bodyPr wrap="square" lIns="0" tIns="0" rIns="0" bIns="0" rtlCol="0" anchor="t">
            <a:spAutoFit/>
          </a:bodyPr>
          <a:lstStyle/>
          <a:p>
            <a:pPr algn="l">
              <a:lnSpc>
                <a:spcPts val="9999"/>
              </a:lnSpc>
            </a:pPr>
            <a:r>
              <a:rPr lang="en-US" sz="9600" b="1" kern="100" dirty="0">
                <a:latin typeface="Aptos" panose="020B0004020202020204" pitchFamily="34" charset="0"/>
                <a:ea typeface="Aptos" panose="020B0004020202020204" pitchFamily="34" charset="0"/>
                <a:cs typeface="Arial" panose="020B0604020202020204" pitchFamily="34" charset="0"/>
              </a:rPr>
              <a:t>5</a:t>
            </a:r>
            <a:r>
              <a:rPr lang="en-US" sz="9600" b="1" kern="100" dirty="0">
                <a:effectLst/>
                <a:latin typeface="Aptos" panose="020B0004020202020204" pitchFamily="34" charset="0"/>
                <a:ea typeface="Aptos" panose="020B0004020202020204" pitchFamily="34" charset="0"/>
                <a:cs typeface="Arial" panose="020B0604020202020204" pitchFamily="34" charset="0"/>
              </a:rPr>
              <a:t>-Activity Diagram</a:t>
            </a:r>
            <a:br>
              <a:rPr lang="en-US" sz="9600" kern="100" dirty="0">
                <a:effectLst/>
                <a:latin typeface="Aptos" panose="020B0004020202020204" pitchFamily="34" charset="0"/>
                <a:ea typeface="Aptos" panose="020B0004020202020204" pitchFamily="34" charset="0"/>
                <a:cs typeface="Arial" panose="020B0604020202020204" pitchFamily="34" charset="0"/>
              </a:rPr>
            </a:b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E28CC766-6292-5C03-C055-F2CFE4ABC8E4}"/>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2796311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F3B7CD-0AFD-B2F3-0A06-0AFB5EEFA26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B803002-FE10-D6F2-33CA-6A201EF4FA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Content Placeholder 3" descr="A diagram of a company&#10;&#10;AI-generated content may be incorrect.">
            <a:extLst>
              <a:ext uri="{FF2B5EF4-FFF2-40B4-BE49-F238E27FC236}">
                <a16:creationId xmlns:a16="http://schemas.microsoft.com/office/drawing/2014/main" id="{8811B2C2-F933-03FE-8B33-57A9994E4913}"/>
              </a:ext>
            </a:extLst>
          </p:cNvPr>
          <p:cNvPicPr>
            <a:picLocks noGrp="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700"/>
            <a:ext cx="13715999" cy="10320542"/>
          </a:xfrm>
          <a:prstGeom prst="rect">
            <a:avLst/>
          </a:prstGeom>
          <a:noFill/>
          <a:ln>
            <a:noFill/>
          </a:ln>
        </p:spPr>
      </p:pic>
    </p:spTree>
    <p:extLst>
      <p:ext uri="{BB962C8B-B14F-4D97-AF65-F5344CB8AC3E}">
        <p14:creationId xmlns:p14="http://schemas.microsoft.com/office/powerpoint/2010/main" val="1166788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8961-7002-2388-DB3C-911797FA95DA}"/>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DC74D168-3D6E-A740-119E-6332EE8C3866}"/>
              </a:ext>
            </a:extLst>
          </p:cNvPr>
          <p:cNvSpPr txBox="1"/>
          <p:nvPr/>
        </p:nvSpPr>
        <p:spPr>
          <a:xfrm>
            <a:off x="4038600" y="3899198"/>
            <a:ext cx="13373100" cy="1282402"/>
          </a:xfrm>
          <a:prstGeom prst="rect">
            <a:avLst/>
          </a:prstGeom>
        </p:spPr>
        <p:txBody>
          <a:bodyPr wrap="square" lIns="0" tIns="0" rIns="0" bIns="0" rtlCol="0" anchor="t">
            <a:spAutoFit/>
          </a:bodyPr>
          <a:lstStyle/>
          <a:p>
            <a:pPr algn="l">
              <a:lnSpc>
                <a:spcPts val="9999"/>
              </a:lnSpc>
            </a:pPr>
            <a:r>
              <a:rPr lang="en-US" sz="9600" b="1" dirty="0"/>
              <a:t>6-ERD</a:t>
            </a: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A3CC71F1-9845-3ADE-5357-54F5AACC3931}"/>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1586437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4A5179-F229-A54A-5398-299843FF10E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09C21F4-3F42-1629-0158-61347EC75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Content Placeholder 3">
            <a:extLst>
              <a:ext uri="{FF2B5EF4-FFF2-40B4-BE49-F238E27FC236}">
                <a16:creationId xmlns:a16="http://schemas.microsoft.com/office/drawing/2014/main" id="{5921A9CD-7D7E-53E8-3722-9B21100C2584}"/>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838200" y="685174"/>
            <a:ext cx="18283428" cy="8915400"/>
          </a:xfrm>
          <a:prstGeom prst="rect">
            <a:avLst/>
          </a:prstGeom>
        </p:spPr>
      </p:pic>
    </p:spTree>
    <p:extLst>
      <p:ext uri="{BB962C8B-B14F-4D97-AF65-F5344CB8AC3E}">
        <p14:creationId xmlns:p14="http://schemas.microsoft.com/office/powerpoint/2010/main" val="3446747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36DDA-F3E9-6977-8688-4EBC10FF992E}"/>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91862991-6944-0831-9107-1EFFA0813BA8}"/>
              </a:ext>
            </a:extLst>
          </p:cNvPr>
          <p:cNvSpPr txBox="1"/>
          <p:nvPr/>
        </p:nvSpPr>
        <p:spPr>
          <a:xfrm>
            <a:off x="762000" y="3899198"/>
            <a:ext cx="16649700" cy="1183594"/>
          </a:xfrm>
          <a:prstGeom prst="rect">
            <a:avLst/>
          </a:prstGeom>
        </p:spPr>
        <p:txBody>
          <a:bodyPr wrap="square" lIns="0" tIns="0" rIns="0" bIns="0" rtlCol="0" anchor="t">
            <a:spAutoFit/>
          </a:bodyPr>
          <a:lstStyle/>
          <a:p>
            <a:pPr algn="l">
              <a:lnSpc>
                <a:spcPts val="9999"/>
              </a:lnSpc>
            </a:pPr>
            <a:r>
              <a:rPr lang="en-US" sz="7000" b="1" dirty="0">
                <a:solidFill>
                  <a:srgbClr val="051838"/>
                </a:solidFill>
                <a:latin typeface="Montserrat Ultra-Bold"/>
                <a:ea typeface="Montserrat Ultra-Bold"/>
                <a:cs typeface="Montserrat Ultra-Bold"/>
                <a:sym typeface="Montserrat Ultra-Bold"/>
              </a:rPr>
              <a:t>Screenshots from the application</a:t>
            </a:r>
          </a:p>
        </p:txBody>
      </p:sp>
      <p:sp>
        <p:nvSpPr>
          <p:cNvPr id="2" name="Freeform 12">
            <a:extLst>
              <a:ext uri="{FF2B5EF4-FFF2-40B4-BE49-F238E27FC236}">
                <a16:creationId xmlns:a16="http://schemas.microsoft.com/office/drawing/2014/main" id="{79C65343-E3CB-5B04-1EC2-63C0FE060310}"/>
              </a:ext>
            </a:extLst>
          </p:cNvPr>
          <p:cNvSpPr/>
          <p:nvPr/>
        </p:nvSpPr>
        <p:spPr>
          <a:xfrm>
            <a:off x="4864" y="8601873"/>
            <a:ext cx="18511735"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1210269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A screenshot of a phone&#10;&#10;AI-generated content may be incorrect.">
            <a:extLst>
              <a:ext uri="{FF2B5EF4-FFF2-40B4-BE49-F238E27FC236}">
                <a16:creationId xmlns:a16="http://schemas.microsoft.com/office/drawing/2014/main" id="{5E7BD78A-DF69-C892-02F9-778B6D2142E6}"/>
              </a:ext>
            </a:extLst>
          </p:cNvPr>
          <p:cNvPicPr>
            <a:picLocks noChangeAspect="1"/>
          </p:cNvPicPr>
          <p:nvPr/>
        </p:nvPicPr>
        <p:blipFill>
          <a:blip r:embed="rId2">
            <a:extLst>
              <a:ext uri="{28A0092B-C50C-407E-A947-70E740481C1C}">
                <a14:useLocalDpi xmlns:a14="http://schemas.microsoft.com/office/drawing/2010/main" val="0"/>
              </a:ext>
            </a:extLst>
          </a:blip>
          <a:srcRect r="-1" b="20577"/>
          <a:stretch>
            <a:fillRect/>
          </a:stretch>
        </p:blipFill>
        <p:spPr>
          <a:xfrm>
            <a:off x="738374" y="723900"/>
            <a:ext cx="4843583" cy="8454654"/>
          </a:xfrm>
          <a:prstGeom prst="rect">
            <a:avLst/>
          </a:prstGeom>
        </p:spPr>
      </p:pic>
      <p:pic>
        <p:nvPicPr>
          <p:cNvPr id="3" name="Picture 2" descr="A screenshot of a phone&#10;&#10;AI-generated content may be incorrect.">
            <a:extLst>
              <a:ext uri="{FF2B5EF4-FFF2-40B4-BE49-F238E27FC236}">
                <a16:creationId xmlns:a16="http://schemas.microsoft.com/office/drawing/2014/main" id="{A3245C9D-4721-EB37-13BC-5D439D42A35B}"/>
              </a:ext>
            </a:extLst>
          </p:cNvPr>
          <p:cNvPicPr>
            <a:picLocks noChangeAspect="1"/>
          </p:cNvPicPr>
          <p:nvPr/>
        </p:nvPicPr>
        <p:blipFill>
          <a:blip r:embed="rId3">
            <a:extLst>
              <a:ext uri="{28A0092B-C50C-407E-A947-70E740481C1C}">
                <a14:useLocalDpi xmlns:a14="http://schemas.microsoft.com/office/drawing/2010/main" val="0"/>
              </a:ext>
            </a:extLst>
          </a:blip>
          <a:srcRect t="2843" r="-2" b="21076"/>
          <a:stretch>
            <a:fillRect/>
          </a:stretch>
        </p:blipFill>
        <p:spPr>
          <a:xfrm>
            <a:off x="12311221" y="829715"/>
            <a:ext cx="5159788" cy="8627569"/>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B63A394B-4CF0-8AE3-5321-D4735CE717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199" y="723900"/>
            <a:ext cx="4997825" cy="8454654"/>
          </a:xfrm>
          <a:prstGeom prst="rect">
            <a:avLst/>
          </a:prstGeom>
        </p:spPr>
      </p:pic>
    </p:spTree>
    <p:extLst>
      <p:ext uri="{BB962C8B-B14F-4D97-AF65-F5344CB8AC3E}">
        <p14:creationId xmlns:p14="http://schemas.microsoft.com/office/powerpoint/2010/main" val="1242848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6827C3C-D52F-46CE-A441-3CD6A1A6A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5" y="0"/>
            <a:ext cx="18288000" cy="10287000"/>
          </a:xfrm>
          <a:prstGeom prst="rect">
            <a:avLst/>
          </a:prstGeom>
          <a:solidFill>
            <a:schemeClr val="bg1">
              <a:lumMod val="8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2A8B51-0A89-497B-B882-6658E029A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5200" y="965199"/>
            <a:ext cx="5283822" cy="835660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B1CEFBF-6F09-4052-862B-E219DA157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0323" y="965199"/>
            <a:ext cx="5283822" cy="835660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6658FF2-5AD8-DF75-843E-51A93DB10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0344" y="1447798"/>
            <a:ext cx="3363780" cy="7392924"/>
          </a:xfrm>
          <a:prstGeom prst="rect">
            <a:avLst/>
          </a:prstGeom>
        </p:spPr>
      </p:pic>
      <p:sp>
        <p:nvSpPr>
          <p:cNvPr id="22" name="Rectangle 21">
            <a:extLst>
              <a:ext uri="{FF2B5EF4-FFF2-40B4-BE49-F238E27FC236}">
                <a16:creationId xmlns:a16="http://schemas.microsoft.com/office/drawing/2014/main" id="{BCB5D417-2A71-445D-B4C7-9E814D633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4270" y="965199"/>
            <a:ext cx="5283822" cy="835660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screenshot of a phone&#10;&#10;AI-generated content may be incorrect.">
            <a:extLst>
              <a:ext uri="{FF2B5EF4-FFF2-40B4-BE49-F238E27FC236}">
                <a16:creationId xmlns:a16="http://schemas.microsoft.com/office/drawing/2014/main" id="{88C1B25A-F06A-5C3C-B1C9-48B308291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94637" y="1447798"/>
            <a:ext cx="3363087" cy="7391402"/>
          </a:xfrm>
          <a:prstGeom prst="rect">
            <a:avLst/>
          </a:prstGeom>
        </p:spPr>
      </p:pic>
      <p:pic>
        <p:nvPicPr>
          <p:cNvPr id="13" name="Picture 12" descr="A screenshot of a phone&#10;&#10;AI-generated content may be incorrect.">
            <a:extLst>
              <a:ext uri="{FF2B5EF4-FFF2-40B4-BE49-F238E27FC236}">
                <a16:creationId xmlns:a16="http://schemas.microsoft.com/office/drawing/2014/main" id="{FE6D0D48-7A69-374A-E925-AA8320AEA2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6400" y="1447798"/>
            <a:ext cx="3424161" cy="7530987"/>
          </a:xfrm>
          <a:prstGeom prst="rect">
            <a:avLst/>
          </a:prstGeom>
        </p:spPr>
      </p:pic>
    </p:spTree>
    <p:extLst>
      <p:ext uri="{BB962C8B-B14F-4D97-AF65-F5344CB8AC3E}">
        <p14:creationId xmlns:p14="http://schemas.microsoft.com/office/powerpoint/2010/main" val="1767727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white surface with a blue background&#10;&#10;AI-generated content may be incorrect.">
            <a:extLst>
              <a:ext uri="{FF2B5EF4-FFF2-40B4-BE49-F238E27FC236}">
                <a16:creationId xmlns:a16="http://schemas.microsoft.com/office/drawing/2014/main" id="{650B3932-2CB6-26CB-9876-834F2882E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4800" y="965200"/>
            <a:ext cx="3802252" cy="8356599"/>
          </a:xfrm>
          <a:prstGeom prst="rect">
            <a:avLst/>
          </a:prstGeom>
        </p:spPr>
      </p:pic>
      <p:pic>
        <p:nvPicPr>
          <p:cNvPr id="3" name="Picture 2" descr="A white background with black dots&#10;&#10;AI-generated content may be incorrect.">
            <a:extLst>
              <a:ext uri="{FF2B5EF4-FFF2-40B4-BE49-F238E27FC236}">
                <a16:creationId xmlns:a16="http://schemas.microsoft.com/office/drawing/2014/main" id="{4FDB9227-41E1-26F0-5BF5-57BCCA824F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0949" y="965200"/>
            <a:ext cx="3802252" cy="8356599"/>
          </a:xfrm>
          <a:prstGeom prst="rect">
            <a:avLst/>
          </a:prstGeom>
        </p:spPr>
      </p:pic>
    </p:spTree>
    <p:extLst>
      <p:ext uri="{BB962C8B-B14F-4D97-AF65-F5344CB8AC3E}">
        <p14:creationId xmlns:p14="http://schemas.microsoft.com/office/powerpoint/2010/main" val="355534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C0EC-3E99-75B9-215C-BBE2B3645924}"/>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5A73B893-15AB-2B3F-FDC4-F37FEFA08004}"/>
              </a:ext>
            </a:extLst>
          </p:cNvPr>
          <p:cNvSpPr txBox="1"/>
          <p:nvPr/>
        </p:nvSpPr>
        <p:spPr>
          <a:xfrm>
            <a:off x="4038600" y="3899198"/>
            <a:ext cx="13373100" cy="1282402"/>
          </a:xfrm>
          <a:prstGeom prst="rect">
            <a:avLst/>
          </a:prstGeom>
        </p:spPr>
        <p:txBody>
          <a:bodyPr wrap="square" lIns="0" tIns="0" rIns="0" bIns="0" rtlCol="0" anchor="t">
            <a:spAutoFit/>
          </a:bodyPr>
          <a:lstStyle/>
          <a:p>
            <a:pPr algn="l">
              <a:lnSpc>
                <a:spcPts val="9999"/>
              </a:lnSpc>
            </a:pPr>
            <a:r>
              <a:rPr lang="en-US" sz="9600" b="1" dirty="0"/>
              <a:t>Tools</a:t>
            </a:r>
            <a:endParaRPr lang="en-US" sz="70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0AF8CB36-5C26-8169-C305-7F02DB1867CF}"/>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4">
            <a:extLst>
              <a:ext uri="{FF2B5EF4-FFF2-40B4-BE49-F238E27FC236}">
                <a16:creationId xmlns:a16="http://schemas.microsoft.com/office/drawing/2014/main" id="{8798A915-9421-DBD2-AB8B-BDB86DF2BB2C}"/>
              </a:ext>
            </a:extLst>
          </p:cNvPr>
          <p:cNvSpPr/>
          <p:nvPr/>
        </p:nvSpPr>
        <p:spPr>
          <a:xfrm flipH="1" flipV="1">
            <a:off x="0" y="-4076700"/>
            <a:ext cx="18288000" cy="3683278"/>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4" name="Picture 3" descr="A blue logo with lines&#10;&#10;AI-generated content may be incorrect.">
            <a:extLst>
              <a:ext uri="{FF2B5EF4-FFF2-40B4-BE49-F238E27FC236}">
                <a16:creationId xmlns:a16="http://schemas.microsoft.com/office/drawing/2014/main" id="{0114A512-AD9E-61B4-133F-BF41E398A2E2}"/>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828800" y="3041948"/>
            <a:ext cx="1714500" cy="1714500"/>
          </a:xfrm>
          <a:prstGeom prst="rect">
            <a:avLst/>
          </a:prstGeom>
        </p:spPr>
      </p:pic>
      <p:pic>
        <p:nvPicPr>
          <p:cNvPr id="6" name="Picture 5" descr="A logo of a drop of water&#10;&#10;AI-generated content may be incorrect.">
            <a:extLst>
              <a:ext uri="{FF2B5EF4-FFF2-40B4-BE49-F238E27FC236}">
                <a16:creationId xmlns:a16="http://schemas.microsoft.com/office/drawing/2014/main" id="{570BCAEC-9657-D53F-F38D-CC1FEDCE1EF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209800" y="5829300"/>
            <a:ext cx="1943100" cy="1828800"/>
          </a:xfrm>
          <a:prstGeom prst="rect">
            <a:avLst/>
          </a:prstGeom>
        </p:spPr>
      </p:pic>
    </p:spTree>
    <p:extLst>
      <p:ext uri="{BB962C8B-B14F-4D97-AF65-F5344CB8AC3E}">
        <p14:creationId xmlns:p14="http://schemas.microsoft.com/office/powerpoint/2010/main" val="1355225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89B46-71F6-B0EC-24BD-845A34E70F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110AF87-8157-C5E1-C80F-D0EC04902905}"/>
              </a:ext>
            </a:extLst>
          </p:cNvPr>
          <p:cNvSpPr txBox="1"/>
          <p:nvPr/>
        </p:nvSpPr>
        <p:spPr>
          <a:xfrm>
            <a:off x="3048000" y="2255710"/>
            <a:ext cx="14554200" cy="8459432"/>
          </a:xfrm>
          <a:prstGeom prst="rect">
            <a:avLst/>
          </a:prstGeom>
          <a:noFill/>
        </p:spPr>
        <p:txBody>
          <a:bodyPr wrap="square">
            <a:spAutoFit/>
          </a:bodyPr>
          <a:lstStyle/>
          <a:p>
            <a:pPr>
              <a:buFont typeface="Arial" panose="020B0604020202020204" pitchFamily="34" charset="0"/>
              <a:buChar char="•"/>
            </a:pPr>
            <a:r>
              <a:rPr lang="en-US" sz="4500" b="1" dirty="0" err="1"/>
              <a:t>FlutterFlow</a:t>
            </a:r>
            <a:r>
              <a:rPr lang="en-US" sz="4500" b="1" dirty="0"/>
              <a:t>:</a:t>
            </a:r>
            <a:br>
              <a:rPr lang="en-US" sz="4500" dirty="0"/>
            </a:br>
            <a:r>
              <a:rPr lang="en-US" sz="4500" dirty="0"/>
              <a:t>A low-code platform for building cross-platform mobile apps using Flutter. It offers drag-and-drop UI, animations, logic tools, and Firebase integration—ideal for quickly developing prototypes, MVPs, and production apps.</a:t>
            </a:r>
          </a:p>
          <a:p>
            <a:pPr>
              <a:buFont typeface="Arial" panose="020B0604020202020204" pitchFamily="34" charset="0"/>
              <a:buChar char="•"/>
            </a:pPr>
            <a:r>
              <a:rPr lang="en-US" sz="4500" b="1" dirty="0"/>
              <a:t>Firebase:</a:t>
            </a:r>
            <a:br>
              <a:rPr lang="en-US" sz="4500" dirty="0"/>
            </a:br>
            <a:r>
              <a:rPr lang="en-US" sz="4500" dirty="0"/>
              <a:t>A Backend-as-a-Service (BaaS) by Google that supports authentication, real-time databases, storage, cloud functions, and analytics. It enables fast, scalable, and secure backend development with seamless integration into Flutter and </a:t>
            </a:r>
            <a:r>
              <a:rPr lang="en-US" sz="4500" dirty="0" err="1"/>
              <a:t>FlutterFlow</a:t>
            </a:r>
            <a:r>
              <a:rPr lang="en-US" sz="4500" dirty="0"/>
              <a:t>.</a:t>
            </a:r>
          </a:p>
          <a:p>
            <a:pPr marL="342900" lvl="0" indent="-342900">
              <a:lnSpc>
                <a:spcPct val="115000"/>
              </a:lnSpc>
              <a:spcAft>
                <a:spcPts val="800"/>
              </a:spcAft>
              <a:buFont typeface="+mj-lt"/>
              <a:buAutoNum type="arabicPeriod"/>
            </a:pPr>
            <a:endParaRPr lang="en-US" sz="4500" dirty="0"/>
          </a:p>
        </p:txBody>
      </p:sp>
      <p:sp>
        <p:nvSpPr>
          <p:cNvPr id="3" name="Freeform 4">
            <a:extLst>
              <a:ext uri="{FF2B5EF4-FFF2-40B4-BE49-F238E27FC236}">
                <a16:creationId xmlns:a16="http://schemas.microsoft.com/office/drawing/2014/main" id="{91274113-7F31-336F-D430-E35E58A7744B}"/>
              </a:ext>
            </a:extLst>
          </p:cNvPr>
          <p:cNvSpPr/>
          <p:nvPr/>
        </p:nvSpPr>
        <p:spPr>
          <a:xfrm flipH="1" flipV="1">
            <a:off x="0" y="-495300"/>
            <a:ext cx="18288000" cy="3683278"/>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022F5AA8-655E-B291-7B27-A5379C44BAF9}"/>
              </a:ext>
            </a:extLst>
          </p:cNvPr>
          <p:cNvSpPr txBox="1"/>
          <p:nvPr/>
        </p:nvSpPr>
        <p:spPr>
          <a:xfrm>
            <a:off x="3488140" y="2213705"/>
            <a:ext cx="9184942" cy="784830"/>
          </a:xfrm>
          <a:prstGeom prst="rect">
            <a:avLst/>
          </a:prstGeom>
          <a:noFill/>
          <a:ln>
            <a:solidFill>
              <a:schemeClr val="bg2"/>
            </a:solidFill>
          </a:ln>
        </p:spPr>
        <p:txBody>
          <a:bodyPr wrap="square">
            <a:spAutoFit/>
          </a:bodyPr>
          <a:lstStyle/>
          <a:p>
            <a:endParaRPr lang="en-US" sz="4500" dirty="0">
              <a:solidFill>
                <a:schemeClr val="tx2"/>
              </a:solidFill>
            </a:endParaRPr>
          </a:p>
        </p:txBody>
      </p:sp>
      <p:sp>
        <p:nvSpPr>
          <p:cNvPr id="13" name="Freeform 2">
            <a:extLst>
              <a:ext uri="{FF2B5EF4-FFF2-40B4-BE49-F238E27FC236}">
                <a16:creationId xmlns:a16="http://schemas.microsoft.com/office/drawing/2014/main" id="{E3515603-1AD7-932F-DF55-67E32D44BE73}"/>
              </a:ext>
            </a:extLst>
          </p:cNvPr>
          <p:cNvSpPr/>
          <p:nvPr/>
        </p:nvSpPr>
        <p:spPr>
          <a:xfrm>
            <a:off x="18782681" y="8634442"/>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6" name="Picture 5" descr="A blue logo with lines&#10;&#10;AI-generated content may be incorrect.">
            <a:extLst>
              <a:ext uri="{FF2B5EF4-FFF2-40B4-BE49-F238E27FC236}">
                <a16:creationId xmlns:a16="http://schemas.microsoft.com/office/drawing/2014/main" id="{B782150D-219A-C078-F2F2-DB3D6F6376C0}"/>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333500" y="1866900"/>
            <a:ext cx="1714500" cy="1714500"/>
          </a:xfrm>
          <a:prstGeom prst="rect">
            <a:avLst/>
          </a:prstGeom>
        </p:spPr>
      </p:pic>
      <p:pic>
        <p:nvPicPr>
          <p:cNvPr id="8" name="Picture 7" descr="A logo of a drop of water&#10;&#10;AI-generated content may be incorrect.">
            <a:extLst>
              <a:ext uri="{FF2B5EF4-FFF2-40B4-BE49-F238E27FC236}">
                <a16:creationId xmlns:a16="http://schemas.microsoft.com/office/drawing/2014/main" id="{76C8B418-4B02-3E0B-A1B6-295D3F4E518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95969" y="5840449"/>
            <a:ext cx="1943100" cy="1828800"/>
          </a:xfrm>
          <a:prstGeom prst="rect">
            <a:avLst/>
          </a:prstGeom>
        </p:spPr>
      </p:pic>
    </p:spTree>
    <p:extLst>
      <p:ext uri="{BB962C8B-B14F-4D97-AF65-F5344CB8AC3E}">
        <p14:creationId xmlns:p14="http://schemas.microsoft.com/office/powerpoint/2010/main" val="1449275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41DC5-5F4D-AA92-69CF-FF0F45A00B4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51B96AFD-EDAB-2A1D-FC75-87964DAC11A7}"/>
              </a:ext>
            </a:extLst>
          </p:cNvPr>
          <p:cNvSpPr txBox="1"/>
          <p:nvPr/>
        </p:nvSpPr>
        <p:spPr>
          <a:xfrm>
            <a:off x="457200" y="3899198"/>
            <a:ext cx="16954500" cy="1282402"/>
          </a:xfrm>
          <a:prstGeom prst="rect">
            <a:avLst/>
          </a:prstGeom>
        </p:spPr>
        <p:txBody>
          <a:bodyPr wrap="square" lIns="0" tIns="0" rIns="0" bIns="0" rtlCol="0" anchor="t">
            <a:spAutoFit/>
          </a:bodyPr>
          <a:lstStyle/>
          <a:p>
            <a:pPr algn="l">
              <a:lnSpc>
                <a:spcPts val="9999"/>
              </a:lnSpc>
            </a:pPr>
            <a:r>
              <a:rPr lang="en-US" sz="8800" b="1" dirty="0"/>
              <a:t>Current Strategy &amp; Future Plans</a:t>
            </a:r>
            <a:endParaRPr lang="en-US" sz="8600" b="1" dirty="0">
              <a:solidFill>
                <a:srgbClr val="051838"/>
              </a:solidFill>
              <a:latin typeface="Montserrat Ultra-Bold"/>
              <a:ea typeface="Montserrat Ultra-Bold"/>
              <a:cs typeface="Montserrat Ultra-Bold"/>
              <a:sym typeface="Montserrat Ultra-Bold"/>
            </a:endParaRPr>
          </a:p>
        </p:txBody>
      </p:sp>
      <p:sp>
        <p:nvSpPr>
          <p:cNvPr id="2" name="Freeform 12">
            <a:extLst>
              <a:ext uri="{FF2B5EF4-FFF2-40B4-BE49-F238E27FC236}">
                <a16:creationId xmlns:a16="http://schemas.microsoft.com/office/drawing/2014/main" id="{35BD716F-05B4-8C44-FDC0-DBE7E64DDAF7}"/>
              </a:ext>
            </a:extLst>
          </p:cNvPr>
          <p:cNvSpPr/>
          <p:nvPr/>
        </p:nvSpPr>
        <p:spPr>
          <a:xfrm>
            <a:off x="4865" y="8601873"/>
            <a:ext cx="18283136"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4">
            <a:extLst>
              <a:ext uri="{FF2B5EF4-FFF2-40B4-BE49-F238E27FC236}">
                <a16:creationId xmlns:a16="http://schemas.microsoft.com/office/drawing/2014/main" id="{63EFC90E-F635-F40E-920F-6EBBCB05788C}"/>
              </a:ext>
            </a:extLst>
          </p:cNvPr>
          <p:cNvSpPr/>
          <p:nvPr/>
        </p:nvSpPr>
        <p:spPr>
          <a:xfrm flipH="1" flipV="1">
            <a:off x="0" y="-4076700"/>
            <a:ext cx="18288000" cy="3683278"/>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0" name="Group 4">
            <a:extLst>
              <a:ext uri="{FF2B5EF4-FFF2-40B4-BE49-F238E27FC236}">
                <a16:creationId xmlns:a16="http://schemas.microsoft.com/office/drawing/2014/main" id="{E9913BC8-DA21-8BE6-9D07-D8426CC2D965}"/>
              </a:ext>
            </a:extLst>
          </p:cNvPr>
          <p:cNvGrpSpPr/>
          <p:nvPr/>
        </p:nvGrpSpPr>
        <p:grpSpPr>
          <a:xfrm rot="5400000">
            <a:off x="-7222808" y="7337108"/>
            <a:ext cx="7391399" cy="7423782"/>
            <a:chOff x="0" y="0"/>
            <a:chExt cx="812800" cy="812800"/>
          </a:xfrm>
        </p:grpSpPr>
        <p:sp>
          <p:nvSpPr>
            <p:cNvPr id="11" name="Freeform 5">
              <a:extLst>
                <a:ext uri="{FF2B5EF4-FFF2-40B4-BE49-F238E27FC236}">
                  <a16:creationId xmlns:a16="http://schemas.microsoft.com/office/drawing/2014/main" id="{DE5E895A-BBEE-2320-7338-F84F98320A31}"/>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12" name="Group 2">
            <a:extLst>
              <a:ext uri="{FF2B5EF4-FFF2-40B4-BE49-F238E27FC236}">
                <a16:creationId xmlns:a16="http://schemas.microsoft.com/office/drawing/2014/main" id="{EF7EB44A-4A93-A8D3-2D46-B00E88D7DBA2}"/>
              </a:ext>
            </a:extLst>
          </p:cNvPr>
          <p:cNvGrpSpPr/>
          <p:nvPr/>
        </p:nvGrpSpPr>
        <p:grpSpPr>
          <a:xfrm rot="16756783" flipH="1" flipV="1">
            <a:off x="18302791" y="-3065064"/>
            <a:ext cx="8099998" cy="7840430"/>
            <a:chOff x="0" y="0"/>
            <a:chExt cx="812800" cy="812800"/>
          </a:xfrm>
        </p:grpSpPr>
        <p:sp>
          <p:nvSpPr>
            <p:cNvPr id="13" name="Freeform 3">
              <a:extLst>
                <a:ext uri="{FF2B5EF4-FFF2-40B4-BE49-F238E27FC236}">
                  <a16:creationId xmlns:a16="http://schemas.microsoft.com/office/drawing/2014/main" id="{D9E0EF94-3897-7D42-FE10-622BC127F388}"/>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pic>
        <p:nvPicPr>
          <p:cNvPr id="4" name="Picture 3" descr="A blue logo with lines&#10;&#10;AI-generated content may be incorrect.">
            <a:extLst>
              <a:ext uri="{FF2B5EF4-FFF2-40B4-BE49-F238E27FC236}">
                <a16:creationId xmlns:a16="http://schemas.microsoft.com/office/drawing/2014/main" id="{93C105E4-6D2A-EF4D-5447-7600C3E752C0}"/>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05000" y="2440974"/>
            <a:ext cx="1714500" cy="1714500"/>
          </a:xfrm>
          <a:prstGeom prst="rect">
            <a:avLst/>
          </a:prstGeom>
        </p:spPr>
      </p:pic>
      <p:pic>
        <p:nvPicPr>
          <p:cNvPr id="6" name="Picture 5" descr="A logo of a drop of water&#10;&#10;AI-generated content may be incorrect.">
            <a:extLst>
              <a:ext uri="{FF2B5EF4-FFF2-40B4-BE49-F238E27FC236}">
                <a16:creationId xmlns:a16="http://schemas.microsoft.com/office/drawing/2014/main" id="{4CF8DB09-AF77-FE10-D9FA-F77F72CB377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121877" y="5217127"/>
            <a:ext cx="1943100" cy="1828800"/>
          </a:xfrm>
          <a:prstGeom prst="rect">
            <a:avLst/>
          </a:prstGeom>
        </p:spPr>
      </p:pic>
    </p:spTree>
    <p:extLst>
      <p:ext uri="{BB962C8B-B14F-4D97-AF65-F5344CB8AC3E}">
        <p14:creationId xmlns:p14="http://schemas.microsoft.com/office/powerpoint/2010/main" val="3319597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E8864-5B5D-C436-8780-7D4D6B0DBA8C}"/>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CBA0B667-293D-2CC7-DB6F-240167AFABAD}"/>
              </a:ext>
            </a:extLst>
          </p:cNvPr>
          <p:cNvSpPr/>
          <p:nvPr/>
        </p:nvSpPr>
        <p:spPr>
          <a:xfrm flipH="1" flipV="1">
            <a:off x="-533400" y="-419101"/>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15F9DE51-7730-D97C-5398-A92A52676259}"/>
              </a:ext>
            </a:extLst>
          </p:cNvPr>
          <p:cNvSpPr txBox="1"/>
          <p:nvPr/>
        </p:nvSpPr>
        <p:spPr>
          <a:xfrm>
            <a:off x="1143000" y="1650270"/>
            <a:ext cx="10629900" cy="1282402"/>
          </a:xfrm>
          <a:prstGeom prst="rect">
            <a:avLst/>
          </a:prstGeom>
        </p:spPr>
        <p:txBody>
          <a:bodyPr wrap="square" lIns="0" tIns="0" rIns="0" bIns="0" rtlCol="0" anchor="t">
            <a:spAutoFit/>
          </a:bodyPr>
          <a:lstStyle/>
          <a:p>
            <a:pPr algn="l">
              <a:lnSpc>
                <a:spcPts val="9999"/>
              </a:lnSpc>
            </a:pPr>
            <a:r>
              <a:rPr lang="en-US" sz="9600" b="1" dirty="0"/>
              <a:t>Current Strategy</a:t>
            </a:r>
            <a:endParaRPr lang="en-US" sz="8000"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BC15EE08-0F67-B256-A4B0-DE4A5E46BBCE}"/>
              </a:ext>
            </a:extLst>
          </p:cNvPr>
          <p:cNvSpPr txBox="1"/>
          <p:nvPr/>
        </p:nvSpPr>
        <p:spPr>
          <a:xfrm>
            <a:off x="735554" y="2900362"/>
            <a:ext cx="13209046" cy="6647974"/>
          </a:xfrm>
          <a:prstGeom prst="rect">
            <a:avLst/>
          </a:prstGeom>
        </p:spPr>
        <p:txBody>
          <a:bodyPr wrap="square" lIns="0" tIns="0" rIns="0" bIns="0" rtlCol="0" anchor="t">
            <a:spAutoFit/>
          </a:bodyPr>
          <a:lstStyle/>
          <a:p>
            <a:pPr>
              <a:buFont typeface="Arial" panose="020B0604020202020204" pitchFamily="34" charset="0"/>
              <a:buChar char="•"/>
            </a:pPr>
            <a:r>
              <a:rPr lang="en-US" sz="3600" b="1" dirty="0"/>
              <a:t>Local Promotion:</a:t>
            </a:r>
            <a:br>
              <a:rPr lang="en-US" sz="3600" dirty="0"/>
            </a:br>
            <a:r>
              <a:rPr lang="en-US" sz="3600" dirty="0"/>
              <a:t>Share targeted posts in community groups where people live in the supported service areas.</a:t>
            </a:r>
          </a:p>
          <a:p>
            <a:pPr>
              <a:buFont typeface="Arial" panose="020B0604020202020204" pitchFamily="34" charset="0"/>
              <a:buChar char="•"/>
            </a:pPr>
            <a:r>
              <a:rPr lang="en-US" sz="3600" dirty="0"/>
              <a:t> </a:t>
            </a:r>
            <a:r>
              <a:rPr lang="en-US" sz="3600" b="1" dirty="0"/>
              <a:t>Craftsman Bonus Program:</a:t>
            </a:r>
            <a:endParaRPr lang="en-US" sz="3600" dirty="0"/>
          </a:p>
          <a:p>
            <a:pPr marL="742950" lvl="1" indent="-285750">
              <a:buFont typeface="Arial" panose="020B0604020202020204" pitchFamily="34" charset="0"/>
              <a:buChar char="•"/>
            </a:pPr>
            <a:r>
              <a:rPr lang="en-US" sz="3600" dirty="0"/>
              <a:t>Offer rewards to craftsmen for completing a certain number of jobs per week.</a:t>
            </a:r>
          </a:p>
          <a:p>
            <a:pPr marL="742950" lvl="1" indent="-285750">
              <a:buFont typeface="Arial" panose="020B0604020202020204" pitchFamily="34" charset="0"/>
              <a:buChar char="•"/>
            </a:pPr>
            <a:r>
              <a:rPr lang="en-US" sz="3600" dirty="0"/>
              <a:t>Encourage craftsmen to invite others—bonuses are given only when the invited craftsman completes a job.</a:t>
            </a:r>
          </a:p>
          <a:p>
            <a:pPr>
              <a:buFont typeface="Arial" panose="020B0604020202020204" pitchFamily="34" charset="0"/>
              <a:buChar char="•"/>
            </a:pPr>
            <a:r>
              <a:rPr lang="en-US" sz="3600" dirty="0"/>
              <a:t> </a:t>
            </a:r>
            <a:r>
              <a:rPr lang="en-US" sz="3600" b="1" dirty="0"/>
              <a:t>Digital Marketing:</a:t>
            </a:r>
            <a:br>
              <a:rPr lang="en-US" sz="3600" dirty="0"/>
            </a:br>
            <a:r>
              <a:rPr lang="en-US" sz="3600" dirty="0"/>
              <a:t>Launch Facebook Ads campaigns to increase awareness and attract both users and craftsmen.</a:t>
            </a:r>
          </a:p>
          <a:p>
            <a:endParaRPr lang="en-US" sz="3600" dirty="0"/>
          </a:p>
        </p:txBody>
      </p:sp>
      <p:sp>
        <p:nvSpPr>
          <p:cNvPr id="2" name="Freeform 12">
            <a:extLst>
              <a:ext uri="{FF2B5EF4-FFF2-40B4-BE49-F238E27FC236}">
                <a16:creationId xmlns:a16="http://schemas.microsoft.com/office/drawing/2014/main" id="{35176633-CC2B-35FD-D750-BF18EF1FD685}"/>
              </a:ext>
            </a:extLst>
          </p:cNvPr>
          <p:cNvSpPr/>
          <p:nvPr/>
        </p:nvSpPr>
        <p:spPr>
          <a:xfrm>
            <a:off x="-304800" y="8640783"/>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10" name="Group 2">
            <a:extLst>
              <a:ext uri="{FF2B5EF4-FFF2-40B4-BE49-F238E27FC236}">
                <a16:creationId xmlns:a16="http://schemas.microsoft.com/office/drawing/2014/main" id="{30D927B8-CEE6-2A58-EEF2-0F31F9721E14}"/>
              </a:ext>
            </a:extLst>
          </p:cNvPr>
          <p:cNvGrpSpPr/>
          <p:nvPr/>
        </p:nvGrpSpPr>
        <p:grpSpPr>
          <a:xfrm rot="16756783" flipH="1" flipV="1">
            <a:off x="16230600" y="-419101"/>
            <a:ext cx="8099998" cy="7840430"/>
            <a:chOff x="0" y="0"/>
            <a:chExt cx="812800" cy="812800"/>
          </a:xfrm>
        </p:grpSpPr>
        <p:sp>
          <p:nvSpPr>
            <p:cNvPr id="11" name="Freeform 3">
              <a:extLst>
                <a:ext uri="{FF2B5EF4-FFF2-40B4-BE49-F238E27FC236}">
                  <a16:creationId xmlns:a16="http://schemas.microsoft.com/office/drawing/2014/main" id="{8D71E319-8C2C-FB3A-B3F3-8CBE5F3ECF2D}"/>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8" name="Group 4">
            <a:extLst>
              <a:ext uri="{FF2B5EF4-FFF2-40B4-BE49-F238E27FC236}">
                <a16:creationId xmlns:a16="http://schemas.microsoft.com/office/drawing/2014/main" id="{C985609C-DD13-C6AF-8F45-5AFCA4B67AFF}"/>
              </a:ext>
            </a:extLst>
          </p:cNvPr>
          <p:cNvGrpSpPr/>
          <p:nvPr/>
        </p:nvGrpSpPr>
        <p:grpSpPr>
          <a:xfrm rot="5400000">
            <a:off x="-4774154" y="7184032"/>
            <a:ext cx="7391399" cy="7423782"/>
            <a:chOff x="0" y="0"/>
            <a:chExt cx="812800" cy="812800"/>
          </a:xfrm>
        </p:grpSpPr>
        <p:sp>
          <p:nvSpPr>
            <p:cNvPr id="9" name="Freeform 5">
              <a:extLst>
                <a:ext uri="{FF2B5EF4-FFF2-40B4-BE49-F238E27FC236}">
                  <a16:creationId xmlns:a16="http://schemas.microsoft.com/office/drawing/2014/main" id="{3EBFC027-C339-DE7D-E015-FBE1264AC644}"/>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1439073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529C-D1CD-BC65-9DFA-C994F9FD3495}"/>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561A6EBB-64A5-3463-0093-81BE2EC8D546}"/>
              </a:ext>
            </a:extLst>
          </p:cNvPr>
          <p:cNvSpPr/>
          <p:nvPr/>
        </p:nvSpPr>
        <p:spPr>
          <a:xfrm flipH="1" flipV="1">
            <a:off x="-533400" y="-419101"/>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02BE7EA6-FD65-64B8-4AB2-05E0D42A3AD8}"/>
              </a:ext>
            </a:extLst>
          </p:cNvPr>
          <p:cNvSpPr txBox="1"/>
          <p:nvPr/>
        </p:nvSpPr>
        <p:spPr>
          <a:xfrm>
            <a:off x="1447800" y="1321678"/>
            <a:ext cx="10629900" cy="1282402"/>
          </a:xfrm>
          <a:prstGeom prst="rect">
            <a:avLst/>
          </a:prstGeom>
        </p:spPr>
        <p:txBody>
          <a:bodyPr wrap="square" lIns="0" tIns="0" rIns="0" bIns="0" rtlCol="0" anchor="t">
            <a:spAutoFit/>
          </a:bodyPr>
          <a:lstStyle/>
          <a:p>
            <a:pPr algn="l">
              <a:lnSpc>
                <a:spcPts val="9999"/>
              </a:lnSpc>
            </a:pPr>
            <a:r>
              <a:rPr lang="en-US" sz="9600" b="1" dirty="0"/>
              <a:t>future plan</a:t>
            </a:r>
            <a:endParaRPr lang="en-US" sz="8000"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C91559AE-1F0B-4030-D2C1-8A749B4B21FF}"/>
              </a:ext>
            </a:extLst>
          </p:cNvPr>
          <p:cNvSpPr txBox="1"/>
          <p:nvPr/>
        </p:nvSpPr>
        <p:spPr>
          <a:xfrm>
            <a:off x="762000" y="2473503"/>
            <a:ext cx="15468600" cy="6278642"/>
          </a:xfrm>
          <a:prstGeom prst="rect">
            <a:avLst/>
          </a:prstGeom>
        </p:spPr>
        <p:txBody>
          <a:bodyPr wrap="square" lIns="0" tIns="0" rIns="0" bIns="0" rtlCol="0" anchor="t">
            <a:spAutoFit/>
          </a:bodyPr>
          <a:lstStyle/>
          <a:p>
            <a:pPr>
              <a:buFont typeface="Arial" panose="020B0604020202020204" pitchFamily="34" charset="0"/>
              <a:buChar char="•"/>
            </a:pPr>
            <a:r>
              <a:rPr lang="en-US" sz="3400" b="1" dirty="0"/>
              <a:t>Advanced Booking System:</a:t>
            </a:r>
            <a:br>
              <a:rPr lang="en-US" sz="3400" dirty="0"/>
            </a:br>
            <a:r>
              <a:rPr lang="en-US" sz="3400" dirty="0"/>
              <a:t>Add real-time scheduling with calendar sync, availability tracking, and auto-reminders.</a:t>
            </a:r>
          </a:p>
          <a:p>
            <a:pPr>
              <a:buFont typeface="Arial" panose="020B0604020202020204" pitchFamily="34" charset="0"/>
              <a:buChar char="•"/>
            </a:pPr>
            <a:r>
              <a:rPr lang="en-US" sz="3400" dirty="0"/>
              <a:t> </a:t>
            </a:r>
            <a:r>
              <a:rPr lang="en-US" sz="3400" b="1" dirty="0"/>
              <a:t>In-App Promotions:</a:t>
            </a:r>
            <a:br>
              <a:rPr lang="en-US" sz="3400" dirty="0"/>
            </a:br>
            <a:r>
              <a:rPr lang="en-US" sz="3400" dirty="0"/>
              <a:t>Allow craftsmen to boost visibility with paid promotions and featured job listings.</a:t>
            </a:r>
          </a:p>
          <a:p>
            <a:pPr>
              <a:buFont typeface="Arial" panose="020B0604020202020204" pitchFamily="34" charset="0"/>
              <a:buChar char="•"/>
            </a:pPr>
            <a:r>
              <a:rPr lang="en-US" sz="3400" dirty="0"/>
              <a:t> </a:t>
            </a:r>
            <a:r>
              <a:rPr lang="en-US" sz="3400" b="1" dirty="0"/>
              <a:t>Commission Model:</a:t>
            </a:r>
            <a:br>
              <a:rPr lang="en-US" sz="3400" dirty="0"/>
            </a:br>
            <a:r>
              <a:rPr lang="en-US" sz="3400" dirty="0"/>
              <a:t>Introduce subscriptions or small commissions once the app gains user trust and scale.</a:t>
            </a:r>
          </a:p>
          <a:p>
            <a:pPr>
              <a:buFont typeface="Arial" panose="020B0604020202020204" pitchFamily="34" charset="0"/>
              <a:buChar char="•"/>
            </a:pPr>
            <a:r>
              <a:rPr lang="en-US" sz="3400" dirty="0"/>
              <a:t> </a:t>
            </a:r>
            <a:r>
              <a:rPr lang="en-US" sz="3400" b="1" dirty="0"/>
              <a:t>Emergency Requests:</a:t>
            </a:r>
            <a:br>
              <a:rPr lang="en-US" sz="3400" dirty="0"/>
            </a:br>
            <a:r>
              <a:rPr lang="en-US" sz="3400" dirty="0"/>
              <a:t>Enable urgent service requests for immediate help from nearby craftsmen.</a:t>
            </a:r>
          </a:p>
          <a:p>
            <a:pPr>
              <a:buFont typeface="Arial" panose="020B0604020202020204" pitchFamily="34" charset="0"/>
              <a:buChar char="•"/>
            </a:pPr>
            <a:r>
              <a:rPr lang="en-US" sz="3400" dirty="0"/>
              <a:t> </a:t>
            </a:r>
            <a:r>
              <a:rPr lang="en-US" sz="3400" b="1" dirty="0"/>
              <a:t>Craftsman Analytics Dashboard:</a:t>
            </a:r>
            <a:br>
              <a:rPr lang="en-US" sz="3400" dirty="0"/>
            </a:br>
            <a:r>
              <a:rPr lang="en-US" sz="3400" dirty="0"/>
              <a:t>Provide insights on job history, ratings, earnings, and engagement to support business growth.</a:t>
            </a:r>
          </a:p>
          <a:p>
            <a:endParaRPr lang="en-US" sz="3400" dirty="0"/>
          </a:p>
        </p:txBody>
      </p:sp>
      <p:sp>
        <p:nvSpPr>
          <p:cNvPr id="2" name="Freeform 12">
            <a:extLst>
              <a:ext uri="{FF2B5EF4-FFF2-40B4-BE49-F238E27FC236}">
                <a16:creationId xmlns:a16="http://schemas.microsoft.com/office/drawing/2014/main" id="{9BD5AB1C-94E0-8C9E-1F6C-6B7EAFC56AEC}"/>
              </a:ext>
            </a:extLst>
          </p:cNvPr>
          <p:cNvSpPr/>
          <p:nvPr/>
        </p:nvSpPr>
        <p:spPr>
          <a:xfrm>
            <a:off x="-304800" y="8640783"/>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10" name="Group 2">
            <a:extLst>
              <a:ext uri="{FF2B5EF4-FFF2-40B4-BE49-F238E27FC236}">
                <a16:creationId xmlns:a16="http://schemas.microsoft.com/office/drawing/2014/main" id="{BF35EEAA-FC20-02A8-EBDA-B068B8C97F0A}"/>
              </a:ext>
            </a:extLst>
          </p:cNvPr>
          <p:cNvGrpSpPr/>
          <p:nvPr/>
        </p:nvGrpSpPr>
        <p:grpSpPr>
          <a:xfrm rot="2370755" flipH="1" flipV="1">
            <a:off x="16230600" y="-419101"/>
            <a:ext cx="8099998" cy="7840430"/>
            <a:chOff x="0" y="0"/>
            <a:chExt cx="812800" cy="812800"/>
          </a:xfrm>
        </p:grpSpPr>
        <p:sp>
          <p:nvSpPr>
            <p:cNvPr id="11" name="Freeform 3">
              <a:extLst>
                <a:ext uri="{FF2B5EF4-FFF2-40B4-BE49-F238E27FC236}">
                  <a16:creationId xmlns:a16="http://schemas.microsoft.com/office/drawing/2014/main" id="{A431B2CC-6C37-F968-793E-6950FA5E2DCD}"/>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8" name="Group 4">
            <a:extLst>
              <a:ext uri="{FF2B5EF4-FFF2-40B4-BE49-F238E27FC236}">
                <a16:creationId xmlns:a16="http://schemas.microsoft.com/office/drawing/2014/main" id="{E2175906-5DB5-2781-10FF-277F106976BC}"/>
              </a:ext>
            </a:extLst>
          </p:cNvPr>
          <p:cNvGrpSpPr/>
          <p:nvPr/>
        </p:nvGrpSpPr>
        <p:grpSpPr>
          <a:xfrm rot="10800000">
            <a:off x="-4774154" y="7184032"/>
            <a:ext cx="7391399" cy="7423782"/>
            <a:chOff x="0" y="0"/>
            <a:chExt cx="812800" cy="812800"/>
          </a:xfrm>
        </p:grpSpPr>
        <p:sp>
          <p:nvSpPr>
            <p:cNvPr id="9" name="Freeform 5">
              <a:extLst>
                <a:ext uri="{FF2B5EF4-FFF2-40B4-BE49-F238E27FC236}">
                  <a16:creationId xmlns:a16="http://schemas.microsoft.com/office/drawing/2014/main" id="{65C02149-C019-BAAB-2199-4EDA16D98478}"/>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1305657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43D6C-B707-44A5-EEC5-3122F6632068}"/>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4F1B8FE4-2FA5-0ABF-870F-481578BB9668}"/>
              </a:ext>
            </a:extLst>
          </p:cNvPr>
          <p:cNvSpPr/>
          <p:nvPr/>
        </p:nvSpPr>
        <p:spPr>
          <a:xfrm flipH="1" flipV="1">
            <a:off x="-533400" y="-419101"/>
            <a:ext cx="18821400" cy="3481559"/>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7CE05E3E-6A6E-48A0-1CDE-6C44B3062489}"/>
              </a:ext>
            </a:extLst>
          </p:cNvPr>
          <p:cNvSpPr txBox="1"/>
          <p:nvPr/>
        </p:nvSpPr>
        <p:spPr>
          <a:xfrm>
            <a:off x="1780414" y="1328816"/>
            <a:ext cx="10629900" cy="1282402"/>
          </a:xfrm>
          <a:prstGeom prst="rect">
            <a:avLst/>
          </a:prstGeom>
        </p:spPr>
        <p:txBody>
          <a:bodyPr wrap="square" lIns="0" tIns="0" rIns="0" bIns="0" rtlCol="0" anchor="t">
            <a:spAutoFit/>
          </a:bodyPr>
          <a:lstStyle/>
          <a:p>
            <a:pPr algn="l">
              <a:lnSpc>
                <a:spcPts val="9999"/>
              </a:lnSpc>
            </a:pPr>
            <a:r>
              <a:rPr lang="en-US" sz="9600" b="1" kern="0" dirty="0">
                <a:effectLst/>
                <a:latin typeface="Times New Roman" panose="02020603050405020304" pitchFamily="18" charset="0"/>
                <a:ea typeface="Times New Roman" panose="02020603050405020304" pitchFamily="18" charset="0"/>
                <a:cs typeface="Arial" panose="020B0604020202020204" pitchFamily="34" charset="0"/>
              </a:rPr>
              <a:t>Conclusion</a:t>
            </a:r>
            <a:endParaRPr lang="en-US" sz="8000" b="1" dirty="0">
              <a:solidFill>
                <a:srgbClr val="051838"/>
              </a:solidFill>
              <a:latin typeface="Montserrat Ultra-Bold"/>
              <a:ea typeface="Montserrat Ultra-Bold"/>
              <a:cs typeface="Montserrat Ultra-Bold"/>
              <a:sym typeface="Montserrat Ultra-Bold"/>
            </a:endParaRPr>
          </a:p>
        </p:txBody>
      </p:sp>
      <p:sp>
        <p:nvSpPr>
          <p:cNvPr id="6" name="TextBox 6">
            <a:extLst>
              <a:ext uri="{FF2B5EF4-FFF2-40B4-BE49-F238E27FC236}">
                <a16:creationId xmlns:a16="http://schemas.microsoft.com/office/drawing/2014/main" id="{C57AF3CE-8B5B-C0D2-D9BC-BCC5AA6406D5}"/>
              </a:ext>
            </a:extLst>
          </p:cNvPr>
          <p:cNvSpPr txBox="1"/>
          <p:nvPr/>
        </p:nvSpPr>
        <p:spPr>
          <a:xfrm>
            <a:off x="609600" y="2375842"/>
            <a:ext cx="15468600" cy="6647974"/>
          </a:xfrm>
          <a:prstGeom prst="rect">
            <a:avLst/>
          </a:prstGeom>
        </p:spPr>
        <p:txBody>
          <a:bodyPr wrap="square" lIns="0" tIns="0" rIns="0" bIns="0" rtlCol="0" anchor="t">
            <a:spAutoFit/>
          </a:bodyPr>
          <a:lstStyle/>
          <a:p>
            <a:r>
              <a:rPr lang="en-US" sz="4800" dirty="0"/>
              <a:t>The Craftsman app offers a modern, practical solution to everyday home repair needs in Egypt. By connecting users with trusted craftsmen through a simple and transparent system, we aim to build a reliable platform that benefits both sides.</a:t>
            </a:r>
            <a:br>
              <a:rPr lang="en-US" sz="4800" dirty="0"/>
            </a:br>
            <a:r>
              <a:rPr lang="en-US" sz="4800" dirty="0"/>
              <a:t>Starting as a free service, our focus is on building trust, engagement, and real value. With future features like in-app booking and promotions, we’re not just solving a problem. we’re building the future of home services in </a:t>
            </a:r>
            <a:r>
              <a:rPr lang="en-US" sz="4800" dirty="0" err="1"/>
              <a:t>egypt</a:t>
            </a:r>
            <a:r>
              <a:rPr lang="en-US" sz="4800" dirty="0"/>
              <a:t>.</a:t>
            </a:r>
          </a:p>
        </p:txBody>
      </p:sp>
      <p:sp>
        <p:nvSpPr>
          <p:cNvPr id="2" name="Freeform 12">
            <a:extLst>
              <a:ext uri="{FF2B5EF4-FFF2-40B4-BE49-F238E27FC236}">
                <a16:creationId xmlns:a16="http://schemas.microsoft.com/office/drawing/2014/main" id="{5D8B349A-8218-669F-8761-54FB7177B376}"/>
              </a:ext>
            </a:extLst>
          </p:cNvPr>
          <p:cNvSpPr/>
          <p:nvPr/>
        </p:nvSpPr>
        <p:spPr>
          <a:xfrm>
            <a:off x="-304800" y="8640783"/>
            <a:ext cx="19879023"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10" name="Group 2">
            <a:extLst>
              <a:ext uri="{FF2B5EF4-FFF2-40B4-BE49-F238E27FC236}">
                <a16:creationId xmlns:a16="http://schemas.microsoft.com/office/drawing/2014/main" id="{D0F18DB7-A1FD-2EB7-F4D0-79EB96CD8EB1}"/>
              </a:ext>
            </a:extLst>
          </p:cNvPr>
          <p:cNvGrpSpPr/>
          <p:nvPr/>
        </p:nvGrpSpPr>
        <p:grpSpPr>
          <a:xfrm rot="8736111" flipH="1" flipV="1">
            <a:off x="16230600" y="-419101"/>
            <a:ext cx="8099998" cy="7840430"/>
            <a:chOff x="0" y="0"/>
            <a:chExt cx="812800" cy="812800"/>
          </a:xfrm>
        </p:grpSpPr>
        <p:sp>
          <p:nvSpPr>
            <p:cNvPr id="11" name="Freeform 3">
              <a:extLst>
                <a:ext uri="{FF2B5EF4-FFF2-40B4-BE49-F238E27FC236}">
                  <a16:creationId xmlns:a16="http://schemas.microsoft.com/office/drawing/2014/main" id="{36A0B8A7-6260-0A6C-8455-E82BAA445911}"/>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8" name="Group 4">
            <a:extLst>
              <a:ext uri="{FF2B5EF4-FFF2-40B4-BE49-F238E27FC236}">
                <a16:creationId xmlns:a16="http://schemas.microsoft.com/office/drawing/2014/main" id="{C9394AD2-2499-1D21-AB13-6039E1CEAFD4}"/>
              </a:ext>
            </a:extLst>
          </p:cNvPr>
          <p:cNvGrpSpPr/>
          <p:nvPr/>
        </p:nvGrpSpPr>
        <p:grpSpPr>
          <a:xfrm rot="16200000">
            <a:off x="-4774154" y="7184032"/>
            <a:ext cx="7391399" cy="7423782"/>
            <a:chOff x="0" y="0"/>
            <a:chExt cx="812800" cy="812800"/>
          </a:xfrm>
        </p:grpSpPr>
        <p:sp>
          <p:nvSpPr>
            <p:cNvPr id="9" name="Freeform 5">
              <a:extLst>
                <a:ext uri="{FF2B5EF4-FFF2-40B4-BE49-F238E27FC236}">
                  <a16:creationId xmlns:a16="http://schemas.microsoft.com/office/drawing/2014/main" id="{7AD28E6C-34D0-DDCB-4CBA-D716E2C93429}"/>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spTree>
    <p:extLst>
      <p:ext uri="{BB962C8B-B14F-4D97-AF65-F5344CB8AC3E}">
        <p14:creationId xmlns:p14="http://schemas.microsoft.com/office/powerpoint/2010/main" val="3619727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83400" y="-1487149"/>
            <a:ext cx="7343202" cy="73432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a:p>
          </p:txBody>
        </p:sp>
      </p:grpSp>
      <p:grpSp>
        <p:nvGrpSpPr>
          <p:cNvPr id="4" name="Group 4"/>
          <p:cNvGrpSpPr/>
          <p:nvPr/>
        </p:nvGrpSpPr>
        <p:grpSpPr>
          <a:xfrm>
            <a:off x="-11201400" y="9258300"/>
            <a:ext cx="7343202" cy="734320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2700" cap="sq">
              <a:solidFill>
                <a:srgbClr val="000000"/>
              </a:solidFill>
              <a:prstDash val="solid"/>
              <a:miter/>
            </a:ln>
          </p:spPr>
          <p:txBody>
            <a:bodyPr/>
            <a:lstStyle/>
            <a:p>
              <a:endParaRPr lang="en-US" dirty="0"/>
            </a:p>
          </p:txBody>
        </p:sp>
      </p:grpSp>
      <p:sp>
        <p:nvSpPr>
          <p:cNvPr id="6" name="TextBox 6"/>
          <p:cNvSpPr txBox="1"/>
          <p:nvPr/>
        </p:nvSpPr>
        <p:spPr>
          <a:xfrm>
            <a:off x="4978346" y="3470875"/>
            <a:ext cx="8813854" cy="3653825"/>
          </a:xfrm>
          <a:prstGeom prst="rect">
            <a:avLst/>
          </a:prstGeom>
        </p:spPr>
        <p:txBody>
          <a:bodyPr wrap="square" lIns="0" tIns="0" rIns="0" bIns="0" rtlCol="0" anchor="t">
            <a:spAutoFit/>
          </a:bodyPr>
          <a:lstStyle/>
          <a:p>
            <a:pPr algn="ctr">
              <a:lnSpc>
                <a:spcPts val="13952"/>
              </a:lnSpc>
            </a:pPr>
            <a:r>
              <a:rPr lang="en-US" sz="13952" b="1" dirty="0">
                <a:solidFill>
                  <a:srgbClr val="051838"/>
                </a:solidFill>
                <a:latin typeface="Montserrat Ultra-Bold"/>
                <a:ea typeface="Montserrat Ultra-Bold"/>
                <a:cs typeface="Montserrat Ultra-Bold"/>
                <a:sym typeface="Montserrat Ultra-Bold"/>
              </a:rPr>
              <a:t>Thank</a:t>
            </a:r>
          </a:p>
          <a:p>
            <a:pPr algn="ctr">
              <a:lnSpc>
                <a:spcPts val="13952"/>
              </a:lnSpc>
              <a:spcBef>
                <a:spcPct val="0"/>
              </a:spcBef>
            </a:pPr>
            <a:r>
              <a:rPr lang="en-US" sz="13952" b="1" dirty="0">
                <a:solidFill>
                  <a:srgbClr val="051838"/>
                </a:solidFill>
                <a:latin typeface="Montserrat Ultra-Bold"/>
                <a:ea typeface="Montserrat Ultra-Bold"/>
                <a:cs typeface="Montserrat Ultra-Bold"/>
                <a:sym typeface="Montserrat Ultra-Bold"/>
              </a:rPr>
              <a:t>you </a:t>
            </a:r>
          </a:p>
        </p:txBody>
      </p:sp>
      <p:sp>
        <p:nvSpPr>
          <p:cNvPr id="7" name="Freeform 7"/>
          <p:cNvSpPr/>
          <p:nvPr/>
        </p:nvSpPr>
        <p:spPr>
          <a:xfrm>
            <a:off x="29308" y="8134775"/>
            <a:ext cx="18323170" cy="2087751"/>
          </a:xfrm>
          <a:custGeom>
            <a:avLst/>
            <a:gdLst/>
            <a:ahLst/>
            <a:cxnLst/>
            <a:rect l="l" t="t" r="r" b="b"/>
            <a:pathLst>
              <a:path w="19879023" h="2087751">
                <a:moveTo>
                  <a:pt x="0" y="0"/>
                </a:moveTo>
                <a:lnTo>
                  <a:pt x="19879024" y="0"/>
                </a:lnTo>
                <a:lnTo>
                  <a:pt x="19879024" y="2087751"/>
                </a:lnTo>
                <a:lnTo>
                  <a:pt x="0" y="208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9" name="Freeform 4">
            <a:extLst>
              <a:ext uri="{FF2B5EF4-FFF2-40B4-BE49-F238E27FC236}">
                <a16:creationId xmlns:a16="http://schemas.microsoft.com/office/drawing/2014/main" id="{26777CD3-7824-2B65-BF1B-609CD3778530}"/>
              </a:ext>
            </a:extLst>
          </p:cNvPr>
          <p:cNvSpPr/>
          <p:nvPr/>
        </p:nvSpPr>
        <p:spPr>
          <a:xfrm flipH="1" flipV="1">
            <a:off x="0" y="64474"/>
            <a:ext cx="18288000" cy="3097826"/>
          </a:xfrm>
          <a:custGeom>
            <a:avLst/>
            <a:gdLst/>
            <a:ahLst/>
            <a:cxnLst/>
            <a:rect l="l" t="t" r="r" b="b"/>
            <a:pathLst>
              <a:path w="20099392" h="9252420">
                <a:moveTo>
                  <a:pt x="20099392" y="9252420"/>
                </a:moveTo>
                <a:lnTo>
                  <a:pt x="0" y="9252420"/>
                </a:lnTo>
                <a:lnTo>
                  <a:pt x="0" y="0"/>
                </a:lnTo>
                <a:lnTo>
                  <a:pt x="20099392" y="0"/>
                </a:lnTo>
                <a:lnTo>
                  <a:pt x="20099392" y="925242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280</TotalTime>
  <Words>1032</Words>
  <Application>Microsoft Office PowerPoint</Application>
  <PresentationFormat>Custom</PresentationFormat>
  <Paragraphs>69</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Montserrat Ultra-Bold</vt:lpstr>
      <vt:lpstr>Arial</vt:lpstr>
      <vt:lpstr>Times New Roman</vt:lpstr>
      <vt:lpstr>Poppins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Illustrative Group Project Presentation</dc:title>
  <cp:lastModifiedBy>Office</cp:lastModifiedBy>
  <cp:revision>14</cp:revision>
  <dcterms:created xsi:type="dcterms:W3CDTF">2006-08-16T00:00:00Z</dcterms:created>
  <dcterms:modified xsi:type="dcterms:W3CDTF">2025-05-20T01:31:26Z</dcterms:modified>
  <dc:identifier>DAGnwDXA8lI</dc:identifier>
</cp:coreProperties>
</file>